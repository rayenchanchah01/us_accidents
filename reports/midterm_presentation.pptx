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5" d="100"/>
          <a:sy n="85" d="100"/>
        </p:scale>
        <p:origin x="3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i="0">
                <a:solidFill>
                  <a:srgbClr val="1E2228"/>
                </a:solidFill>
                <a:latin typeface="Calibri"/>
              </a:rPr>
              <a:t>Share of accidents by Severity (%)</a:t>
            </a:r>
          </a:p>
        </c:rich>
      </c:tx>
      <c:overlay val="0"/>
    </c:title>
    <c:autoTitleDeleted val="0"/>
    <c:plotArea>
      <c:layout/>
      <c:barChart>
        <c:barDir val="col"/>
        <c:grouping val="clustered"/>
        <c:varyColors val="1"/>
        <c:ser>
          <c:idx val="0"/>
          <c:order val="0"/>
          <c:tx>
            <c:strRef>
              <c:f>Sheet1!$B$1</c:f>
              <c:strCache>
                <c:ptCount val="1"/>
                <c:pt idx="0">
                  <c:v>Share</c:v>
                </c:pt>
              </c:strCache>
            </c:strRef>
          </c:tx>
          <c:invertIfNegative val="1"/>
          <c:dPt>
            <c:idx val="0"/>
            <c:invertIfNegative val="1"/>
            <c:bubble3D val="0"/>
            <c:spPr>
              <a:solidFill>
                <a:srgbClr val="9CC3E8"/>
              </a:solidFill>
            </c:spPr>
            <c:extLst>
              <c:ext xmlns:c16="http://schemas.microsoft.com/office/drawing/2014/chart" uri="{C3380CC4-5D6E-409C-BE32-E72D297353CC}">
                <c16:uniqueId val="{00000001-A646-4FFF-90BF-493C600F7191}"/>
              </c:ext>
            </c:extLst>
          </c:dPt>
          <c:dPt>
            <c:idx val="1"/>
            <c:invertIfNegative val="1"/>
            <c:bubble3D val="0"/>
            <c:spPr>
              <a:solidFill>
                <a:srgbClr val="3B7DD8"/>
              </a:solidFill>
            </c:spPr>
            <c:extLst>
              <c:ext xmlns:c16="http://schemas.microsoft.com/office/drawing/2014/chart" uri="{C3380CC4-5D6E-409C-BE32-E72D297353CC}">
                <c16:uniqueId val="{00000003-A646-4FFF-90BF-493C600F7191}"/>
              </c:ext>
            </c:extLst>
          </c:dPt>
          <c:dPt>
            <c:idx val="2"/>
            <c:invertIfNegative val="1"/>
            <c:bubble3D val="0"/>
            <c:spPr>
              <a:solidFill>
                <a:srgbClr val="F28C28"/>
              </a:solidFill>
            </c:spPr>
            <c:extLst>
              <c:ext xmlns:c16="http://schemas.microsoft.com/office/drawing/2014/chart" uri="{C3380CC4-5D6E-409C-BE32-E72D297353CC}">
                <c16:uniqueId val="{00000005-A646-4FFF-90BF-493C600F7191}"/>
              </c:ext>
            </c:extLst>
          </c:dPt>
          <c:dPt>
            <c:idx val="3"/>
            <c:invertIfNegative val="1"/>
            <c:bubble3D val="0"/>
            <c:spPr>
              <a:solidFill>
                <a:srgbClr val="C62828"/>
              </a:solidFill>
            </c:spPr>
            <c:extLst>
              <c:ext xmlns:c16="http://schemas.microsoft.com/office/drawing/2014/chart" uri="{C3380CC4-5D6E-409C-BE32-E72D297353CC}">
                <c16:uniqueId val="{00000007-A646-4FFF-90BF-493C600F7191}"/>
              </c:ext>
            </c:extLst>
          </c:dPt>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Severity 1</c:v>
                </c:pt>
                <c:pt idx="1">
                  <c:v>Severity 2</c:v>
                </c:pt>
                <c:pt idx="2">
                  <c:v>Severity 3</c:v>
                </c:pt>
                <c:pt idx="3">
                  <c:v>Severity 4</c:v>
                </c:pt>
              </c:strCache>
            </c:strRef>
          </c:cat>
          <c:val>
            <c:numRef>
              <c:f>Sheet1!$B$2:$B$5</c:f>
              <c:numCache>
                <c:formatCode>General</c:formatCode>
                <c:ptCount val="4"/>
                <c:pt idx="0">
                  <c:v>0.85</c:v>
                </c:pt>
                <c:pt idx="1">
                  <c:v>79.63</c:v>
                </c:pt>
                <c:pt idx="2">
                  <c:v>16.899999999999999</c:v>
                </c:pt>
                <c:pt idx="3">
                  <c:v>2.61</c:v>
                </c:pt>
              </c:numCache>
            </c:numRef>
          </c:val>
          <c:extLst>
            <c:ext xmlns:c16="http://schemas.microsoft.com/office/drawing/2014/chart" uri="{C3380CC4-5D6E-409C-BE32-E72D297353CC}">
              <c16:uniqueId val="{00000008-A646-4FFF-90BF-493C600F7191}"/>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9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fr-FR" sz="1300" b="1" i="0">
                <a:solidFill>
                  <a:srgbClr val="1E2228"/>
                </a:solidFill>
                <a:latin typeface="Calibri"/>
              </a:rPr>
              <a:t>Descriptions that say "closed" (%)</a:t>
            </a:r>
          </a:p>
        </c:rich>
      </c:tx>
      <c:overlay val="0"/>
    </c:title>
    <c:autoTitleDeleted val="0"/>
    <c:plotArea>
      <c:layout/>
      <c:barChart>
        <c:barDir val="col"/>
        <c:grouping val="clustered"/>
        <c:varyColors val="1"/>
        <c:ser>
          <c:idx val="0"/>
          <c:order val="0"/>
          <c:tx>
            <c:strRef>
              <c:f>Sheet1!$B$1</c:f>
              <c:strCache>
                <c:ptCount val="1"/>
                <c:pt idx="0">
                  <c:v>closed</c:v>
                </c:pt>
              </c:strCache>
            </c:strRef>
          </c:tx>
          <c:invertIfNegative val="1"/>
          <c:dPt>
            <c:idx val="0"/>
            <c:invertIfNegative val="1"/>
            <c:bubble3D val="0"/>
            <c:spPr>
              <a:solidFill>
                <a:srgbClr val="8A919C"/>
              </a:solidFill>
            </c:spPr>
            <c:extLst>
              <c:ext xmlns:c16="http://schemas.microsoft.com/office/drawing/2014/chart" uri="{C3380CC4-5D6E-409C-BE32-E72D297353CC}">
                <c16:uniqueId val="{00000001-4FA8-4D3B-B64F-D51F1F8A93A0}"/>
              </c:ext>
            </c:extLst>
          </c:dPt>
          <c:dPt>
            <c:idx val="1"/>
            <c:invertIfNegative val="1"/>
            <c:bubble3D val="0"/>
            <c:spPr>
              <a:solidFill>
                <a:srgbClr val="8A919C"/>
              </a:solidFill>
            </c:spPr>
            <c:extLst>
              <c:ext xmlns:c16="http://schemas.microsoft.com/office/drawing/2014/chart" uri="{C3380CC4-5D6E-409C-BE32-E72D297353CC}">
                <c16:uniqueId val="{00000003-4FA8-4D3B-B64F-D51F1F8A93A0}"/>
              </c:ext>
            </c:extLst>
          </c:dPt>
          <c:dPt>
            <c:idx val="2"/>
            <c:invertIfNegative val="1"/>
            <c:bubble3D val="0"/>
            <c:spPr>
              <a:solidFill>
                <a:srgbClr val="8A919C"/>
              </a:solidFill>
            </c:spPr>
            <c:extLst>
              <c:ext xmlns:c16="http://schemas.microsoft.com/office/drawing/2014/chart" uri="{C3380CC4-5D6E-409C-BE32-E72D297353CC}">
                <c16:uniqueId val="{00000005-4FA8-4D3B-B64F-D51F1F8A93A0}"/>
              </c:ext>
            </c:extLst>
          </c:dPt>
          <c:dPt>
            <c:idx val="3"/>
            <c:invertIfNegative val="1"/>
            <c:bubble3D val="0"/>
            <c:spPr>
              <a:solidFill>
                <a:srgbClr val="C62828"/>
              </a:solidFill>
            </c:spPr>
            <c:extLst>
              <c:ext xmlns:c16="http://schemas.microsoft.com/office/drawing/2014/chart" uri="{C3380CC4-5D6E-409C-BE32-E72D297353CC}">
                <c16:uniqueId val="{00000007-4FA8-4D3B-B64F-D51F1F8A93A0}"/>
              </c:ext>
            </c:extLst>
          </c:dPt>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Severity 1</c:v>
                </c:pt>
                <c:pt idx="1">
                  <c:v>Severity 2</c:v>
                </c:pt>
                <c:pt idx="2">
                  <c:v>Severity 3</c:v>
                </c:pt>
                <c:pt idx="3">
                  <c:v>Severity 4</c:v>
                </c:pt>
              </c:strCache>
            </c:strRef>
          </c:cat>
          <c:val>
            <c:numRef>
              <c:f>Sheet1!$B$2:$B$5</c:f>
              <c:numCache>
                <c:formatCode>General</c:formatCode>
                <c:ptCount val="4"/>
                <c:pt idx="0">
                  <c:v>2.2000000000000002</c:v>
                </c:pt>
                <c:pt idx="1">
                  <c:v>4.7</c:v>
                </c:pt>
                <c:pt idx="2">
                  <c:v>5.4</c:v>
                </c:pt>
                <c:pt idx="3">
                  <c:v>88.5</c:v>
                </c:pt>
              </c:numCache>
            </c:numRef>
          </c:val>
          <c:extLst>
            <c:ext xmlns:c16="http://schemas.microsoft.com/office/drawing/2014/chart" uri="{C3380CC4-5D6E-409C-BE32-E72D297353CC}">
              <c16:uniqueId val="{00000008-4FA8-4D3B-B64F-D51F1F8A93A0}"/>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fr-FR" sz="1300" b="1" i="0">
                <a:solidFill>
                  <a:srgbClr val="1E2228"/>
                </a:solidFill>
                <a:latin typeface="Calibri"/>
              </a:rPr>
              <a:t>Severity 4 share (%)</a:t>
            </a:r>
          </a:p>
        </c:rich>
      </c:tx>
      <c:overlay val="0"/>
    </c:title>
    <c:autoTitleDeleted val="0"/>
    <c:plotArea>
      <c:layout/>
      <c:barChart>
        <c:barDir val="col"/>
        <c:grouping val="clustered"/>
        <c:varyColors val="1"/>
        <c:ser>
          <c:idx val="0"/>
          <c:order val="0"/>
          <c:tx>
            <c:strRef>
              <c:f>Sheet1!$B$1</c:f>
              <c:strCache>
                <c:ptCount val="1"/>
                <c:pt idx="0">
                  <c:v>S4</c:v>
                </c:pt>
              </c:strCache>
            </c:strRef>
          </c:tx>
          <c:invertIfNegative val="1"/>
          <c:dPt>
            <c:idx val="0"/>
            <c:invertIfNegative val="1"/>
            <c:bubble3D val="0"/>
            <c:spPr>
              <a:solidFill>
                <a:srgbClr val="8A919C"/>
              </a:solidFill>
            </c:spPr>
            <c:extLst>
              <c:ext xmlns:c16="http://schemas.microsoft.com/office/drawing/2014/chart" uri="{C3380CC4-5D6E-409C-BE32-E72D297353CC}">
                <c16:uniqueId val="{00000001-F577-4F31-AA6E-3D95043CDD54}"/>
              </c:ext>
            </c:extLst>
          </c:dPt>
          <c:dPt>
            <c:idx val="1"/>
            <c:invertIfNegative val="1"/>
            <c:bubble3D val="0"/>
            <c:spPr>
              <a:solidFill>
                <a:srgbClr val="26303B"/>
              </a:solidFill>
            </c:spPr>
            <c:extLst>
              <c:ext xmlns:c16="http://schemas.microsoft.com/office/drawing/2014/chart" uri="{C3380CC4-5D6E-409C-BE32-E72D297353CC}">
                <c16:uniqueId val="{00000003-F577-4F31-AA6E-3D95043CDD54}"/>
              </c:ext>
            </c:extLst>
          </c:dPt>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Day</c:v>
                </c:pt>
                <c:pt idx="1">
                  <c:v>Night</c:v>
                </c:pt>
              </c:strCache>
            </c:strRef>
          </c:cat>
          <c:val>
            <c:numRef>
              <c:f>Sheet1!$B$2:$B$3</c:f>
              <c:numCache>
                <c:formatCode>General</c:formatCode>
                <c:ptCount val="2"/>
                <c:pt idx="0">
                  <c:v>2.2000000000000002</c:v>
                </c:pt>
                <c:pt idx="1">
                  <c:v>3.5</c:v>
                </c:pt>
              </c:numCache>
            </c:numRef>
          </c:val>
          <c:extLst>
            <c:ext xmlns:c16="http://schemas.microsoft.com/office/drawing/2014/chart" uri="{C3380CC4-5D6E-409C-BE32-E72D297353CC}">
              <c16:uniqueId val="{00000004-F577-4F31-AA6E-3D95043CDD5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4.3"/>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fr-FR" sz="1300" b="1" i="0">
                <a:solidFill>
                  <a:srgbClr val="1E2228"/>
                </a:solidFill>
                <a:latin typeface="Calibri"/>
              </a:rPr>
              <a:t>High-impact share, Severity 3–4 (%)</a:t>
            </a:r>
          </a:p>
        </c:rich>
      </c:tx>
      <c:overlay val="0"/>
    </c:title>
    <c:autoTitleDeleted val="0"/>
    <c:plotArea>
      <c:layout/>
      <c:barChart>
        <c:barDir val="col"/>
        <c:grouping val="clustered"/>
        <c:varyColors val="1"/>
        <c:ser>
          <c:idx val="0"/>
          <c:order val="0"/>
          <c:tx>
            <c:strRef>
              <c:f>Sheet1!$B$1</c:f>
              <c:strCache>
                <c:ptCount val="1"/>
                <c:pt idx="0">
                  <c:v>HI</c:v>
                </c:pt>
              </c:strCache>
            </c:strRef>
          </c:tx>
          <c:invertIfNegative val="1"/>
          <c:dPt>
            <c:idx val="0"/>
            <c:invertIfNegative val="1"/>
            <c:bubble3D val="0"/>
            <c:spPr>
              <a:solidFill>
                <a:srgbClr val="8A919C"/>
              </a:solidFill>
            </c:spPr>
            <c:extLst>
              <c:ext xmlns:c16="http://schemas.microsoft.com/office/drawing/2014/chart" uri="{C3380CC4-5D6E-409C-BE32-E72D297353CC}">
                <c16:uniqueId val="{00000001-A7DD-4E4F-B727-E56CFA831B88}"/>
              </c:ext>
            </c:extLst>
          </c:dPt>
          <c:dPt>
            <c:idx val="1"/>
            <c:invertIfNegative val="1"/>
            <c:bubble3D val="0"/>
            <c:spPr>
              <a:solidFill>
                <a:srgbClr val="3B7DD8"/>
              </a:solidFill>
            </c:spPr>
            <c:extLst>
              <c:ext xmlns:c16="http://schemas.microsoft.com/office/drawing/2014/chart" uri="{C3380CC4-5D6E-409C-BE32-E72D297353CC}">
                <c16:uniqueId val="{00000003-A7DD-4E4F-B727-E56CFA831B88}"/>
              </c:ext>
            </c:extLst>
          </c:dPt>
          <c:dLbls>
            <c:numFmt formatCode="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Clear</c:v>
                </c:pt>
                <c:pt idx="1">
                  <c:v>Rain / storm</c:v>
                </c:pt>
              </c:strCache>
            </c:strRef>
          </c:cat>
          <c:val>
            <c:numRef>
              <c:f>Sheet1!$B$2:$B$3</c:f>
              <c:numCache>
                <c:formatCode>General</c:formatCode>
                <c:ptCount val="2"/>
                <c:pt idx="0">
                  <c:v>17</c:v>
                </c:pt>
                <c:pt idx="1">
                  <c:v>22</c:v>
                </c:pt>
              </c:numCache>
            </c:numRef>
          </c:val>
          <c:extLst>
            <c:ext xmlns:c16="http://schemas.microsoft.com/office/drawing/2014/chart" uri="{C3380CC4-5D6E-409C-BE32-E72D297353CC}">
              <c16:uniqueId val="{00000004-A7DD-4E4F-B727-E56CFA831B8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26"/>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fr-FR" sz="1300" b="1" i="0">
                <a:solidFill>
                  <a:srgbClr val="1E2228"/>
                </a:solidFill>
                <a:latin typeface="Calibri"/>
              </a:rPr>
              <a:t>High-impact share, Severity 3–4 (%)</a:t>
            </a:r>
          </a:p>
        </c:rich>
      </c:tx>
      <c:overlay val="0"/>
    </c:title>
    <c:autoTitleDeleted val="0"/>
    <c:plotArea>
      <c:layout/>
      <c:barChart>
        <c:barDir val="bar"/>
        <c:grouping val="clustered"/>
        <c:varyColors val="1"/>
        <c:ser>
          <c:idx val="0"/>
          <c:order val="0"/>
          <c:tx>
            <c:strRef>
              <c:f>Sheet1!$B$1</c:f>
              <c:strCache>
                <c:ptCount val="1"/>
                <c:pt idx="0">
                  <c:v>HI</c:v>
                </c:pt>
              </c:strCache>
            </c:strRef>
          </c:tx>
          <c:invertIfNegative val="1"/>
          <c:dPt>
            <c:idx val="0"/>
            <c:invertIfNegative val="1"/>
            <c:bubble3D val="0"/>
            <c:spPr>
              <a:solidFill>
                <a:srgbClr val="C62828"/>
              </a:solidFill>
            </c:spPr>
            <c:extLst>
              <c:ext xmlns:c16="http://schemas.microsoft.com/office/drawing/2014/chart" uri="{C3380CC4-5D6E-409C-BE32-E72D297353CC}">
                <c16:uniqueId val="{00000001-FAC2-49F7-92A5-035462EC65E9}"/>
              </c:ext>
            </c:extLst>
          </c:dPt>
          <c:dPt>
            <c:idx val="1"/>
            <c:invertIfNegative val="1"/>
            <c:bubble3D val="0"/>
            <c:spPr>
              <a:solidFill>
                <a:srgbClr val="F28C28"/>
              </a:solidFill>
            </c:spPr>
            <c:extLst>
              <c:ext xmlns:c16="http://schemas.microsoft.com/office/drawing/2014/chart" uri="{C3380CC4-5D6E-409C-BE32-E72D297353CC}">
                <c16:uniqueId val="{00000003-FAC2-49F7-92A5-035462EC65E9}"/>
              </c:ext>
            </c:extLst>
          </c:dPt>
          <c:dPt>
            <c:idx val="2"/>
            <c:invertIfNegative val="1"/>
            <c:bubble3D val="0"/>
            <c:spPr>
              <a:solidFill>
                <a:srgbClr val="8A919C"/>
              </a:solidFill>
            </c:spPr>
            <c:extLst>
              <c:ext xmlns:c16="http://schemas.microsoft.com/office/drawing/2014/chart" uri="{C3380CC4-5D6E-409C-BE32-E72D297353CC}">
                <c16:uniqueId val="{00000005-FAC2-49F7-92A5-035462EC65E9}"/>
              </c:ext>
            </c:extLst>
          </c:dPt>
          <c:dPt>
            <c:idx val="3"/>
            <c:invertIfNegative val="1"/>
            <c:bubble3D val="0"/>
            <c:spPr>
              <a:solidFill>
                <a:srgbClr val="3B7DD8"/>
              </a:solidFill>
            </c:spPr>
            <c:extLst>
              <c:ext xmlns:c16="http://schemas.microsoft.com/office/drawing/2014/chart" uri="{C3380CC4-5D6E-409C-BE32-E72D297353CC}">
                <c16:uniqueId val="{00000007-FAC2-49F7-92A5-035462EC65E9}"/>
              </c:ext>
            </c:extLst>
          </c:dPt>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Highway</c:v>
                </c:pt>
                <c:pt idx="1">
                  <c:v>Junction</c:v>
                </c:pt>
                <c:pt idx="2">
                  <c:v>All accidents</c:v>
                </c:pt>
                <c:pt idx="3">
                  <c:v>Other roads</c:v>
                </c:pt>
              </c:strCache>
            </c:strRef>
          </c:cat>
          <c:val>
            <c:numRef>
              <c:f>Sheet1!$B$2:$B$5</c:f>
              <c:numCache>
                <c:formatCode>General</c:formatCode>
                <c:ptCount val="4"/>
                <c:pt idx="0">
                  <c:v>28</c:v>
                </c:pt>
                <c:pt idx="1">
                  <c:v>27</c:v>
                </c:pt>
                <c:pt idx="2">
                  <c:v>19.600000000000001</c:v>
                </c:pt>
                <c:pt idx="3">
                  <c:v>11</c:v>
                </c:pt>
              </c:numCache>
            </c:numRef>
          </c:val>
          <c:extLst>
            <c:ext xmlns:c16="http://schemas.microsoft.com/office/drawing/2014/chart" uri="{C3380CC4-5D6E-409C-BE32-E72D297353CC}">
              <c16:uniqueId val="{00000008-FAC2-49F7-92A5-035462EC65E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34"/>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i="0">
                <a:solidFill>
                  <a:srgbClr val="1E2228"/>
                </a:solidFill>
                <a:latin typeface="Calibri"/>
              </a:rPr>
              <a:t>How each provider labels its accidents (%)</a:t>
            </a:r>
          </a:p>
        </c:rich>
      </c:tx>
      <c:overlay val="0"/>
    </c:title>
    <c:autoTitleDeleted val="0"/>
    <c:plotArea>
      <c:layout/>
      <c:barChart>
        <c:barDir val="col"/>
        <c:grouping val="clustered"/>
        <c:varyColors val="1"/>
        <c:ser>
          <c:idx val="0"/>
          <c:order val="0"/>
          <c:tx>
            <c:strRef>
              <c:f>Sheet1!$B$1</c:f>
              <c:strCache>
                <c:ptCount val="1"/>
                <c:pt idx="0">
                  <c:v>Source1</c:v>
                </c:pt>
              </c:strCache>
            </c:strRef>
          </c:tx>
          <c:spPr>
            <a:solidFill>
              <a:srgbClr val="F2A900"/>
            </a:solidFill>
          </c:spPr>
          <c:invertIfNegative val="1"/>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Severity 3</c:v>
                </c:pt>
                <c:pt idx="1">
                  <c:v>Severity 4</c:v>
                </c:pt>
              </c:strCache>
            </c:strRef>
          </c:cat>
          <c:val>
            <c:numRef>
              <c:f>Sheet1!$B$2:$B$3</c:f>
              <c:numCache>
                <c:formatCode>General</c:formatCode>
                <c:ptCount val="2"/>
                <c:pt idx="0">
                  <c:v>4</c:v>
                </c:pt>
                <c:pt idx="1">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A18-41BE-9752-7B08FE5BF0F8}"/>
            </c:ext>
          </c:extLst>
        </c:ser>
        <c:ser>
          <c:idx val="1"/>
          <c:order val="1"/>
          <c:tx>
            <c:strRef>
              <c:f>Sheet1!$C$1</c:f>
              <c:strCache>
                <c:ptCount val="1"/>
                <c:pt idx="0">
                  <c:v>Source2</c:v>
                </c:pt>
              </c:strCache>
            </c:strRef>
          </c:tx>
          <c:spPr>
            <a:solidFill>
              <a:srgbClr val="26303B"/>
            </a:solidFill>
          </c:spPr>
          <c:invertIfNegative val="1"/>
          <c:dLbls>
            <c:numFmt formatCode="0.0&quot;%&quot;"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Severity 3</c:v>
                </c:pt>
                <c:pt idx="1">
                  <c:v>Severity 4</c:v>
                </c:pt>
              </c:strCache>
            </c:strRef>
          </c:cat>
          <c:val>
            <c:numRef>
              <c:f>Sheet1!$C$2:$C$3</c:f>
              <c:numCache>
                <c:formatCode>General</c:formatCode>
                <c:ptCount val="2"/>
                <c:pt idx="0">
                  <c:v>34</c:v>
                </c:pt>
                <c:pt idx="1">
                  <c:v>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BA18-41BE-9752-7B08FE5BF0F8}"/>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4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200"/>
          </a:pPr>
          <a:endParaRPr lang="fr-FR"/>
        </a:p>
      </c:txPr>
    </c:legend>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i="0">
                <a:solidFill>
                  <a:srgbClr val="1E2228"/>
                </a:solidFill>
                <a:latin typeface="Calibri"/>
              </a:rPr>
              <a:t>Effect size vs. Severity (Cramér's V)</a:t>
            </a:r>
          </a:p>
        </c:rich>
      </c:tx>
      <c:overlay val="0"/>
    </c:title>
    <c:autoTitleDeleted val="0"/>
    <c:plotArea>
      <c:layout/>
      <c:barChart>
        <c:barDir val="bar"/>
        <c:grouping val="clustered"/>
        <c:varyColors val="1"/>
        <c:ser>
          <c:idx val="0"/>
          <c:order val="0"/>
          <c:tx>
            <c:strRef>
              <c:f>Sheet1!$B$1</c:f>
              <c:strCache>
                <c:ptCount val="1"/>
                <c:pt idx="0">
                  <c:v>V</c:v>
                </c:pt>
              </c:strCache>
            </c:strRef>
          </c:tx>
          <c:invertIfNegative val="1"/>
          <c:dPt>
            <c:idx val="0"/>
            <c:invertIfNegative val="1"/>
            <c:bubble3D val="0"/>
            <c:spPr>
              <a:solidFill>
                <a:srgbClr val="C62828"/>
              </a:solidFill>
            </c:spPr>
            <c:extLst>
              <c:ext xmlns:c16="http://schemas.microsoft.com/office/drawing/2014/chart" uri="{C3380CC4-5D6E-409C-BE32-E72D297353CC}">
                <c16:uniqueId val="{00000001-CDBF-413B-A928-E958E642D912}"/>
              </c:ext>
            </c:extLst>
          </c:dPt>
          <c:dPt>
            <c:idx val="1"/>
            <c:invertIfNegative val="1"/>
            <c:bubble3D val="0"/>
            <c:spPr>
              <a:solidFill>
                <a:srgbClr val="F28C28"/>
              </a:solidFill>
            </c:spPr>
            <c:extLst>
              <c:ext xmlns:c16="http://schemas.microsoft.com/office/drawing/2014/chart" uri="{C3380CC4-5D6E-409C-BE32-E72D297353CC}">
                <c16:uniqueId val="{00000003-CDBF-413B-A928-E958E642D912}"/>
              </c:ext>
            </c:extLst>
          </c:dPt>
          <c:dPt>
            <c:idx val="2"/>
            <c:invertIfNegative val="1"/>
            <c:bubble3D val="0"/>
            <c:spPr>
              <a:solidFill>
                <a:srgbClr val="8A919C"/>
              </a:solidFill>
            </c:spPr>
            <c:extLst>
              <c:ext xmlns:c16="http://schemas.microsoft.com/office/drawing/2014/chart" uri="{C3380CC4-5D6E-409C-BE32-E72D297353CC}">
                <c16:uniqueId val="{00000005-CDBF-413B-A928-E958E642D912}"/>
              </c:ext>
            </c:extLst>
          </c:dPt>
          <c:dPt>
            <c:idx val="3"/>
            <c:invertIfNegative val="1"/>
            <c:bubble3D val="0"/>
            <c:spPr>
              <a:solidFill>
                <a:srgbClr val="8A919C"/>
              </a:solidFill>
            </c:spPr>
            <c:extLst>
              <c:ext xmlns:c16="http://schemas.microsoft.com/office/drawing/2014/chart" uri="{C3380CC4-5D6E-409C-BE32-E72D297353CC}">
                <c16:uniqueId val="{00000007-CDBF-413B-A928-E958E642D912}"/>
              </c:ext>
            </c:extLst>
          </c:dPt>
          <c:dPt>
            <c:idx val="4"/>
            <c:invertIfNegative val="1"/>
            <c:bubble3D val="0"/>
            <c:spPr>
              <a:solidFill>
                <a:srgbClr val="8A919C"/>
              </a:solidFill>
            </c:spPr>
            <c:extLst>
              <c:ext xmlns:c16="http://schemas.microsoft.com/office/drawing/2014/chart" uri="{C3380CC4-5D6E-409C-BE32-E72D297353CC}">
                <c16:uniqueId val="{00000009-CDBF-413B-A928-E958E642D912}"/>
              </c:ext>
            </c:extLst>
          </c:dPt>
          <c:dLbls>
            <c:numFmt formatCode="0.00" sourceLinked="0"/>
            <c:spPr>
              <a:noFill/>
              <a:ln>
                <a:noFill/>
              </a:ln>
              <a:effectLst/>
            </c:spPr>
            <c:txPr>
              <a:bodyPr/>
              <a:lstStyle/>
              <a:p>
                <a:pPr>
                  <a:defRPr sz="1200" b="1">
                    <a:solidFill>
                      <a:srgbClr val="1E2228"/>
                    </a:solidFill>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Data provider</c:v>
                </c:pt>
                <c:pt idx="1">
                  <c:v>Traffic signal</c:v>
                </c:pt>
                <c:pt idx="2">
                  <c:v>Day / night</c:v>
                </c:pt>
                <c:pt idx="3">
                  <c:v>Junction</c:v>
                </c:pt>
                <c:pt idx="4">
                  <c:v>Weather group</c:v>
                </c:pt>
              </c:strCache>
            </c:strRef>
          </c:cat>
          <c:val>
            <c:numRef>
              <c:f>Sheet1!$B$2:$B$6</c:f>
              <c:numCache>
                <c:formatCode>General</c:formatCode>
                <c:ptCount val="5"/>
                <c:pt idx="0">
                  <c:v>0.28999999999999998</c:v>
                </c:pt>
                <c:pt idx="1">
                  <c:v>0.12</c:v>
                </c:pt>
                <c:pt idx="2">
                  <c:v>0.05</c:v>
                </c:pt>
                <c:pt idx="3">
                  <c:v>0.05</c:v>
                </c:pt>
                <c:pt idx="4">
                  <c:v>0.04</c:v>
                </c:pt>
              </c:numCache>
            </c:numRef>
          </c:val>
          <c:extLst>
            <c:ext xmlns:c16="http://schemas.microsoft.com/office/drawing/2014/chart" uri="{C3380CC4-5D6E-409C-BE32-E72D297353CC}">
              <c16:uniqueId val="{0000000A-CDBF-413B-A928-E958E642D912}"/>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CED4"/>
            </a:solidFill>
          </a:ln>
        </c:spPr>
        <c:crossAx val="-2113994440"/>
        <c:crosses val="autoZero"/>
        <c:auto val="1"/>
        <c:lblAlgn val="ctr"/>
        <c:lblOffset val="100"/>
        <c:noMultiLvlLbl val="0"/>
      </c:catAx>
      <c:valAx>
        <c:axId val="-2113994440"/>
        <c:scaling>
          <c:orientation val="minMax"/>
          <c:max val="0.3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E222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950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we are presenting our midterm project on the US Accidents dataset. Our goal is to predict how much an accident will slow down traffic, using only what is known when it is first reported. We follow the six CRISP-DM phases: business understanding, data understanding, preprocessing, exploratory analysis, feature engineering, and conclusions and next steps. We did not train models yet; that is the next phase.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Traffic centres and navigation apps must decide right after a report how many responders to send and whether to reroute drivers. So our question is: from the first report, can we predict the delay level? Severity here is traffic delay, not injuries. We wrote five research questions about time, weather, road, label consistency and features. Success criteria: accuracy is misleading because 80% of accidents are Severity 2; always guessing 2 gives 80% accuracy but only 0.22 macro F1. So we will use macro F1 and the recall of Severity 4. For this midterm our criteria were: no leakage, documented cleaning, evidence for every question, justified features, and one-command reproducibility.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the US Accidents dataset by Moosavi and colleagues, from Kaggle, licence CC BY-NC-SA. The full dataset has 7.7 million accidents; we used the 500,000-row random sample, which keeps the same class shares. There are 46 columns: time, location, address, weather from the nearest airport station, 13 road features from OpenStreetMap, and day/night columns. The target is very unbalanced: 80% Severity 2, under 1% Severity 1 and 2.6% Severity 4. We also listed the quality problems we found first. Every column is defined in Appendix A of the report.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leakage was our biggest risk. Some columns are only known after the accident: when it ended, the length of road affected, and the description. The chart shows why this matters: 88.5% of Severity 4 descriptions say 'closed', against about 5% for the others. A model using them would look perfect in testing and fail in real life. So our rule: keep a column only if it is known at report time. We also removed constant and repeated columns. We kept Source: it is known at report time, but suspicious, so we will test models with and without it. Leakage also happens in transformations, so every step that learns from data is fitted on the training split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Cleaning in four steps, each logged in cleaning_log.md with rows and columns before and after. We dropped 11 columns, then 2,884 duplicate rows. For missing values we chose a fix per column: Wind_Chill was dropped because it is 99.4% correlated with temperature; empty precipitation mostly means no rain, so we filled 0 and kept a flag; for the five numeric weather columns we use the training median later, because filling now would use test data, and the median because these columns are skewed. Impossible values like 207 °F or 822 mph were set to empty using physical limits; extreme-but-possible values were kept. Then we merged messy categories. In total we only lost 0.9% of the rows.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looking at severity, we looked at when and where accidents happen. Left: accidents follow commuting, with peaks in the morning and afternoon and fewer on weekends; December and January are the busiest months. Right: the map follows highways and big cities; California alone has 23%. One warning: the number per year grows from 26,700 to 113,700, mostly because the providers collected more data. So the data changes over time, which leads to RQ4.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RQ1: rush hours have the most accidents but not the worst ones. Severity 4 is 1.6 times more common at night: 3.5% against 2.2%. Possible reasons: faster driving on empty roads, darkness and slower response. RQ2: rain and storms raise the high-impact share from 17% to 22%, and snow raises Severity 4. But look at the effect sizes on the right: Cramér's V is 0.05 and 0.04. They are statistically significant because we have 500,000 rows, but the effect is very small. So weather and time help a little, but cannot predict severity alone.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RQ3: road type gives the clearest signal. Highway accidents are 28% high-impact against 11% on other roads; we built the is_highway feature from the street name. Accidents near traffic signals or stop signs are rarely severe because those are slow city streets. RQ4 is our most important finding: the label is not consistent. Source2 labels 34% of its accidents Severity 3, Source1 only 4%. Over the years Source1 replaced Source2, so Severity 3 drops from 32% to 4.5%. A model could learn the provider instead of the accident. That is why we will train with and without Source and use a time-based test.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tested the main patterns at significance level 0.05. For two categorical variables we used the chi-square test of independence; its assumption is expected counts of at least 5, so we left out the 203 rows of 'Other' weather. For temperature across four groups we used Kruskal-Wallis instead of ANOVA, because the D'Agostino test showed it is not normal and Levene showed unequal variances. The key point: with 500,000 rows every p-value is almost zero, so p-values alone are not useful. That is why we report effect sizes and repeat each test on a 5,000-row sample. We reject every H0, but only the provider (0.29) and traffic signals (0.12) have more than a negligible effect. No single variable explains severity.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engineering has two parts. Features built from one row, like hour, season, night flags, bad_weather, road_feature_count and is_highway, are safe at any time; is_highway is the strongest new feature. Then, before anything that learns from data, we split 80/20 stratified. Selection: we removed three near-constant road columns and two repeated night columns, and ranked features with mutual information, which also catches non-linear links. Encoding: one-hot for columns with few values, frequency encoding for City and County because one-hot would make about 10,000 columns, and K-means regions for coordinates. Scaling only matters for linear models. Check: test cities never seen in training get frequency 0, which proves nothing was learned from the test data.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answers. Time and weather: real but weak effects. Road: a clear effect; highways are the strongest signal. Consistency: no, the provider has the strongest link with severity, so part of the label reflects who recorded it. Features: location, provider, year and highway are the most informative. Overall: no single variable explains severity, the relationships are weak and non-linear, so a model will have to combine many weak signals, and tree-based models like Random Forest or LightGBM should do better than linear ones.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Limitations: Severity is recorded differently by each provider, which is our main concern. We used a 6.5% sample, the weather is from the nearest airport, and some thresholds are rules of thumb we chose. Tests show association, not cause. Next steps for the final project: a validation split plus a time-based test, handle the imbalance with class weights or undersampling, start from a trivial baseline and move to tree-based models, evaluate with macro F1 and Severity 4 recall, test the model with and without Source, and explain it with SHAP.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Everything is in the GitHub repository and can be rebuilt with one command. Likely questions: Why remove Description? It is written after the accident and says 'closed' for 88.5% of Severity 4. Why median and not mean? The columns are skewed. Why Kruskal-Wallis? Temperature is not normal. Why keep Source? It is known at report time; we will measure its effect. Why frequency encoding? One-hot would create about 10,000 columns.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303B"/>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737360"/>
            <a:ext cx="7680960" cy="1920240"/>
          </a:xfrm>
        </p:spPr>
        <p:txBody>
          <a:bodyPr wrap="square" lIns="0" anchor="b"/>
          <a:lstStyle/>
          <a:p>
            <a:pPr algn="l"/>
            <a:r>
              <a:rPr sz="4000" b="1" i="0">
                <a:solidFill>
                  <a:srgbClr val="FFFFFF"/>
                </a:solidFill>
                <a:latin typeface="Cambria"/>
              </a:rPr>
              <a:t>Predicting the Traffic Impact of US Road Accidents</a:t>
            </a:r>
          </a:p>
        </p:txBody>
      </p:sp>
      <p:sp>
        <p:nvSpPr>
          <p:cNvPr id="3" name="TextBox 2"/>
          <p:cNvSpPr txBox="1"/>
          <p:nvPr/>
        </p:nvSpPr>
        <p:spPr>
          <a:xfrm>
            <a:off x="548640" y="3886200"/>
            <a:ext cx="7680960" cy="1828800"/>
          </a:xfrm>
          <a:prstGeom prst="rect">
            <a:avLst/>
          </a:prstGeom>
          <a:noFill/>
        </p:spPr>
        <p:txBody>
          <a:bodyPr wrap="square" lIns="0" tIns="0" rIns="0" bIns="0" anchor="t">
            <a:spAutoFit/>
          </a:bodyPr>
          <a:lstStyle/>
          <a:p>
            <a:pPr algn="l">
              <a:spcAft>
                <a:spcPts val="400"/>
              </a:spcAft>
            </a:pPr>
            <a:r>
              <a:rPr sz="1600" b="0" i="0">
                <a:solidFill>
                  <a:srgbClr val="DDE1E6"/>
                </a:solidFill>
                <a:latin typeface="Calibri"/>
              </a:rPr>
              <a:t>Data preparation, exploration &amp; feature engineering</a:t>
            </a:r>
          </a:p>
          <a:p>
            <a:pPr algn="l">
              <a:spcAft>
                <a:spcPts val="400"/>
              </a:spcAft>
            </a:pPr>
            <a:r>
              <a:rPr sz="1300" b="0" i="0">
                <a:solidFill>
                  <a:srgbClr val="DDE1E6"/>
                </a:solidFill>
                <a:latin typeface="Calibri"/>
              </a:rPr>
              <a:t>Omar Tentouch · Tamjid Trabelsi · Youssef Ouenniche · Rayen Chanchah · Mohamed Yamoun</a:t>
            </a:r>
          </a:p>
          <a:p>
            <a:pPr algn="l">
              <a:spcAft>
                <a:spcPts val="400"/>
              </a:spcAft>
            </a:pPr>
            <a:r>
              <a:rPr sz="1300" b="0" i="0">
                <a:solidFill>
                  <a:srgbClr val="DDE1E6"/>
                </a:solidFill>
                <a:latin typeface="Calibri"/>
              </a:rPr>
              <a:t>Data Science Midterm Project · October 2026</a:t>
            </a:r>
          </a:p>
        </p:txBody>
      </p:sp>
      <p:sp>
        <p:nvSpPr>
          <p:cNvPr id="4" name="Oval 3"/>
          <p:cNvSpPr/>
          <p:nvPr/>
        </p:nvSpPr>
        <p:spPr>
          <a:xfrm>
            <a:off x="8778240" y="1828800"/>
            <a:ext cx="2743200" cy="2743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ar-burst_26303B.png"/>
          <p:cNvPicPr>
            <a:picLocks noChangeAspect="1"/>
          </p:cNvPicPr>
          <p:nvPr/>
        </p:nvPicPr>
        <p:blipFill>
          <a:blip r:embed="rId3"/>
          <a:stretch>
            <a:fillRect/>
          </a:stretch>
        </p:blipFill>
        <p:spPr>
          <a:xfrm>
            <a:off x="9418320" y="246888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Which accidents will block traffic for hours?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2</a:t>
            </a:r>
          </a:p>
        </p:txBody>
      </p:sp>
      <p:sp>
        <p:nvSpPr>
          <p:cNvPr id="5" name="Rounded Rectangle 4"/>
          <p:cNvSpPr/>
          <p:nvPr/>
        </p:nvSpPr>
        <p:spPr>
          <a:xfrm>
            <a:off x="548640" y="1325880"/>
            <a:ext cx="5120640" cy="2148840"/>
          </a:xfrm>
          <a:prstGeom prst="roundRect">
            <a:avLst>
              <a:gd name="adj" fmla="val 6000"/>
            </a:avLst>
          </a:prstGeom>
          <a:solidFill>
            <a:srgbClr val="26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508760"/>
            <a:ext cx="4572000" cy="320040"/>
          </a:xfrm>
          <a:prstGeom prst="rect">
            <a:avLst/>
          </a:prstGeom>
          <a:noFill/>
        </p:spPr>
        <p:txBody>
          <a:bodyPr wrap="square" lIns="0" tIns="0" rIns="0" bIns="0" anchor="t">
            <a:spAutoFit/>
          </a:bodyPr>
          <a:lstStyle/>
          <a:p>
            <a:pPr algn="l">
              <a:spcAft>
                <a:spcPts val="0"/>
              </a:spcAft>
            </a:pPr>
            <a:r>
              <a:rPr sz="1300" b="1" i="0">
                <a:solidFill>
                  <a:srgbClr val="F2A900"/>
                </a:solidFill>
                <a:latin typeface="Calibri"/>
              </a:rPr>
              <a:t>Problem statement</a:t>
            </a:r>
          </a:p>
        </p:txBody>
      </p:sp>
      <p:sp>
        <p:nvSpPr>
          <p:cNvPr id="7" name="TextBox 6"/>
          <p:cNvSpPr txBox="1"/>
          <p:nvPr/>
        </p:nvSpPr>
        <p:spPr>
          <a:xfrm>
            <a:off x="822959" y="1874519"/>
            <a:ext cx="4572000" cy="960120"/>
          </a:xfrm>
          <a:prstGeom prst="rect">
            <a:avLst/>
          </a:prstGeom>
          <a:noFill/>
        </p:spPr>
        <p:txBody>
          <a:bodyPr wrap="square" lIns="0" tIns="0" rIns="0" bIns="0" anchor="t">
            <a:spAutoFit/>
          </a:bodyPr>
          <a:lstStyle/>
          <a:p>
            <a:pPr algn="l">
              <a:spcAft>
                <a:spcPts val="0"/>
              </a:spcAft>
            </a:pPr>
            <a:r>
              <a:rPr sz="1600" b="0" i="0">
                <a:solidFill>
                  <a:srgbClr val="FFFFFF"/>
                </a:solidFill>
                <a:latin typeface="Calibri"/>
              </a:rPr>
              <a:t>Predict the Severity of an accident (1 = short delay, 4 = long delay) using only information known when it is first reported.</a:t>
            </a:r>
          </a:p>
        </p:txBody>
      </p:sp>
      <p:sp>
        <p:nvSpPr>
          <p:cNvPr id="8" name="TextBox 7"/>
          <p:cNvSpPr txBox="1"/>
          <p:nvPr/>
        </p:nvSpPr>
        <p:spPr>
          <a:xfrm>
            <a:off x="822959" y="2944368"/>
            <a:ext cx="4572000" cy="365760"/>
          </a:xfrm>
          <a:prstGeom prst="rect">
            <a:avLst/>
          </a:prstGeom>
          <a:noFill/>
        </p:spPr>
        <p:txBody>
          <a:bodyPr wrap="square" lIns="0" tIns="0" rIns="0" bIns="0" anchor="t">
            <a:spAutoFit/>
          </a:bodyPr>
          <a:lstStyle/>
          <a:p>
            <a:pPr algn="l">
              <a:spcAft>
                <a:spcPts val="0"/>
              </a:spcAft>
            </a:pPr>
            <a:r>
              <a:rPr sz="1300" b="0" i="1">
                <a:solidFill>
                  <a:srgbClr val="DDE1E6"/>
                </a:solidFill>
                <a:latin typeface="Calibri"/>
              </a:rPr>
              <a:t>Severity = impact on traffic, not injuries.</a:t>
            </a:r>
          </a:p>
        </p:txBody>
      </p:sp>
      <p:sp>
        <p:nvSpPr>
          <p:cNvPr id="9" name="TextBox 8"/>
          <p:cNvSpPr txBox="1"/>
          <p:nvPr/>
        </p:nvSpPr>
        <p:spPr>
          <a:xfrm>
            <a:off x="548640" y="3749039"/>
            <a:ext cx="5120640" cy="320040"/>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How we will judge a future model</a:t>
            </a:r>
          </a:p>
        </p:txBody>
      </p:sp>
      <p:sp>
        <p:nvSpPr>
          <p:cNvPr id="10" name="Rounded Rectangle 9"/>
          <p:cNvSpPr/>
          <p:nvPr/>
        </p:nvSpPr>
        <p:spPr>
          <a:xfrm>
            <a:off x="548640" y="4160520"/>
            <a:ext cx="2468880" cy="173736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297680"/>
            <a:ext cx="2103120" cy="64008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&gt; 0.22</a:t>
            </a:r>
          </a:p>
        </p:txBody>
      </p:sp>
      <p:sp>
        <p:nvSpPr>
          <p:cNvPr id="12" name="TextBox 11"/>
          <p:cNvSpPr txBox="1"/>
          <p:nvPr/>
        </p:nvSpPr>
        <p:spPr>
          <a:xfrm>
            <a:off x="731520" y="4937760"/>
            <a:ext cx="2103120" cy="320040"/>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Macro F1</a:t>
            </a:r>
          </a:p>
        </p:txBody>
      </p:sp>
      <p:sp>
        <p:nvSpPr>
          <p:cNvPr id="13" name="TextBox 12"/>
          <p:cNvSpPr txBox="1"/>
          <p:nvPr/>
        </p:nvSpPr>
        <p:spPr>
          <a:xfrm>
            <a:off x="731520" y="5276088"/>
            <a:ext cx="2103120" cy="548640"/>
          </a:xfrm>
          <a:prstGeom prst="rect">
            <a:avLst/>
          </a:prstGeom>
          <a:noFill/>
        </p:spPr>
        <p:txBody>
          <a:bodyPr wrap="square" lIns="0" tIns="0" rIns="0" bIns="0" anchor="t">
            <a:spAutoFit/>
          </a:bodyPr>
          <a:lstStyle/>
          <a:p>
            <a:pPr algn="l">
              <a:spcAft>
                <a:spcPts val="0"/>
              </a:spcAft>
            </a:pPr>
            <a:r>
              <a:rPr sz="1100" b="0" i="0">
                <a:solidFill>
                  <a:srgbClr val="4A5563"/>
                </a:solidFill>
                <a:latin typeface="Calibri"/>
              </a:rPr>
              <a:t>score of always guessing "Severity 2"</a:t>
            </a:r>
          </a:p>
        </p:txBody>
      </p:sp>
      <p:sp>
        <p:nvSpPr>
          <p:cNvPr id="14" name="Rounded Rectangle 13"/>
          <p:cNvSpPr/>
          <p:nvPr/>
        </p:nvSpPr>
        <p:spPr>
          <a:xfrm>
            <a:off x="3200400" y="4160520"/>
            <a:ext cx="2468880" cy="173736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4297680"/>
            <a:ext cx="2103120" cy="64008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&gt; 0</a:t>
            </a:r>
          </a:p>
        </p:txBody>
      </p:sp>
      <p:sp>
        <p:nvSpPr>
          <p:cNvPr id="16" name="TextBox 15"/>
          <p:cNvSpPr txBox="1"/>
          <p:nvPr/>
        </p:nvSpPr>
        <p:spPr>
          <a:xfrm>
            <a:off x="3383280" y="4937760"/>
            <a:ext cx="2103120" cy="320040"/>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Recall of Severity 4</a:t>
            </a:r>
          </a:p>
        </p:txBody>
      </p:sp>
      <p:sp>
        <p:nvSpPr>
          <p:cNvPr id="17" name="TextBox 16"/>
          <p:cNvSpPr txBox="1"/>
          <p:nvPr/>
        </p:nvSpPr>
        <p:spPr>
          <a:xfrm>
            <a:off x="3383280" y="5276088"/>
            <a:ext cx="2103120" cy="548640"/>
          </a:xfrm>
          <a:prstGeom prst="rect">
            <a:avLst/>
          </a:prstGeom>
          <a:noFill/>
        </p:spPr>
        <p:txBody>
          <a:bodyPr wrap="square" lIns="0" tIns="0" rIns="0" bIns="0" anchor="t">
            <a:spAutoFit/>
          </a:bodyPr>
          <a:lstStyle/>
          <a:p>
            <a:pPr algn="l">
              <a:spcAft>
                <a:spcPts val="0"/>
              </a:spcAft>
            </a:pPr>
            <a:r>
              <a:rPr sz="1100" b="0" i="0">
                <a:solidFill>
                  <a:srgbClr val="4A5563"/>
                </a:solidFill>
                <a:latin typeface="Calibri"/>
              </a:rPr>
              <a:t>it must find some of the worst accidents</a:t>
            </a:r>
          </a:p>
        </p:txBody>
      </p:sp>
      <p:sp>
        <p:nvSpPr>
          <p:cNvPr id="18" name="TextBox 17"/>
          <p:cNvSpPr txBox="1"/>
          <p:nvPr/>
        </p:nvSpPr>
        <p:spPr>
          <a:xfrm>
            <a:off x="6309360" y="1325880"/>
            <a:ext cx="5303520" cy="320040"/>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Research questions</a:t>
            </a:r>
          </a:p>
        </p:txBody>
      </p:sp>
      <p:sp>
        <p:nvSpPr>
          <p:cNvPr id="19" name="Oval 18"/>
          <p:cNvSpPr/>
          <p:nvPr/>
        </p:nvSpPr>
        <p:spPr>
          <a:xfrm>
            <a:off x="6309360" y="1783080"/>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lock_1E2228.png"/>
          <p:cNvPicPr>
            <a:picLocks noChangeAspect="1"/>
          </p:cNvPicPr>
          <p:nvPr/>
        </p:nvPicPr>
        <p:blipFill>
          <a:blip r:embed="rId3"/>
          <a:stretch>
            <a:fillRect/>
          </a:stretch>
        </p:blipFill>
        <p:spPr>
          <a:xfrm>
            <a:off x="6445422" y="1919142"/>
            <a:ext cx="294802" cy="294802"/>
          </a:xfrm>
          <a:prstGeom prst="rect">
            <a:avLst/>
          </a:prstGeom>
        </p:spPr>
      </p:pic>
      <p:sp>
        <p:nvSpPr>
          <p:cNvPr id="21" name="TextBox 20"/>
          <p:cNvSpPr txBox="1"/>
          <p:nvPr/>
        </p:nvSpPr>
        <p:spPr>
          <a:xfrm>
            <a:off x="7086600" y="1764792"/>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RQ1 · Time</a:t>
            </a:r>
          </a:p>
        </p:txBody>
      </p:sp>
      <p:sp>
        <p:nvSpPr>
          <p:cNvPr id="22" name="TextBox 21"/>
          <p:cNvSpPr txBox="1"/>
          <p:nvPr/>
        </p:nvSpPr>
        <p:spPr>
          <a:xfrm>
            <a:off x="7086600" y="2057400"/>
            <a:ext cx="4572000" cy="320040"/>
          </a:xfrm>
          <a:prstGeom prst="rect">
            <a:avLst/>
          </a:prstGeom>
          <a:noFill/>
        </p:spPr>
        <p:txBody>
          <a:bodyPr wrap="square" lIns="0" tIns="0" rIns="0" bIns="0" anchor="t">
            <a:spAutoFit/>
          </a:bodyPr>
          <a:lstStyle/>
          <a:p>
            <a:pPr algn="l">
              <a:spcAft>
                <a:spcPts val="0"/>
              </a:spcAft>
            </a:pPr>
            <a:r>
              <a:rPr sz="1400" b="0" i="0">
                <a:solidFill>
                  <a:srgbClr val="4A5563"/>
                </a:solidFill>
                <a:latin typeface="Calibri"/>
              </a:rPr>
              <a:t>When do high-impact accidents happen?</a:t>
            </a:r>
          </a:p>
        </p:txBody>
      </p:sp>
      <p:sp>
        <p:nvSpPr>
          <p:cNvPr id="23" name="Oval 22"/>
          <p:cNvSpPr/>
          <p:nvPr/>
        </p:nvSpPr>
        <p:spPr>
          <a:xfrm>
            <a:off x="6309360" y="2624328"/>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loud-rain_1E2228.png"/>
          <p:cNvPicPr>
            <a:picLocks noChangeAspect="1"/>
          </p:cNvPicPr>
          <p:nvPr/>
        </p:nvPicPr>
        <p:blipFill>
          <a:blip r:embed="rId4"/>
          <a:stretch>
            <a:fillRect/>
          </a:stretch>
        </p:blipFill>
        <p:spPr>
          <a:xfrm>
            <a:off x="6445422" y="2760390"/>
            <a:ext cx="294802" cy="294802"/>
          </a:xfrm>
          <a:prstGeom prst="rect">
            <a:avLst/>
          </a:prstGeom>
        </p:spPr>
      </p:pic>
      <p:sp>
        <p:nvSpPr>
          <p:cNvPr id="25" name="TextBox 24"/>
          <p:cNvSpPr txBox="1"/>
          <p:nvPr/>
        </p:nvSpPr>
        <p:spPr>
          <a:xfrm>
            <a:off x="7086600" y="2606040"/>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RQ2 · Weather</a:t>
            </a:r>
          </a:p>
        </p:txBody>
      </p:sp>
      <p:sp>
        <p:nvSpPr>
          <p:cNvPr id="26" name="TextBox 25"/>
          <p:cNvSpPr txBox="1"/>
          <p:nvPr/>
        </p:nvSpPr>
        <p:spPr>
          <a:xfrm>
            <a:off x="7086600" y="2898648"/>
            <a:ext cx="4572000" cy="320040"/>
          </a:xfrm>
          <a:prstGeom prst="rect">
            <a:avLst/>
          </a:prstGeom>
          <a:noFill/>
        </p:spPr>
        <p:txBody>
          <a:bodyPr wrap="square" lIns="0" tIns="0" rIns="0" bIns="0" anchor="t">
            <a:spAutoFit/>
          </a:bodyPr>
          <a:lstStyle/>
          <a:p>
            <a:pPr algn="l">
              <a:spcAft>
                <a:spcPts val="0"/>
              </a:spcAft>
            </a:pPr>
            <a:r>
              <a:rPr sz="1400" b="0" i="0">
                <a:solidFill>
                  <a:srgbClr val="4A5563"/>
                </a:solidFill>
                <a:latin typeface="Calibri"/>
              </a:rPr>
              <a:t>Does weather change severity?</a:t>
            </a:r>
          </a:p>
        </p:txBody>
      </p:sp>
      <p:sp>
        <p:nvSpPr>
          <p:cNvPr id="27" name="Oval 26"/>
          <p:cNvSpPr/>
          <p:nvPr/>
        </p:nvSpPr>
        <p:spPr>
          <a:xfrm>
            <a:off x="6309360" y="3465576"/>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road_1E2228.png"/>
          <p:cNvPicPr>
            <a:picLocks noChangeAspect="1"/>
          </p:cNvPicPr>
          <p:nvPr/>
        </p:nvPicPr>
        <p:blipFill>
          <a:blip r:embed="rId5"/>
          <a:stretch>
            <a:fillRect/>
          </a:stretch>
        </p:blipFill>
        <p:spPr>
          <a:xfrm>
            <a:off x="6445422" y="3601638"/>
            <a:ext cx="294802" cy="294802"/>
          </a:xfrm>
          <a:prstGeom prst="rect">
            <a:avLst/>
          </a:prstGeom>
        </p:spPr>
      </p:pic>
      <p:sp>
        <p:nvSpPr>
          <p:cNvPr id="29" name="TextBox 28"/>
          <p:cNvSpPr txBox="1"/>
          <p:nvPr/>
        </p:nvSpPr>
        <p:spPr>
          <a:xfrm>
            <a:off x="7086600" y="3447288"/>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RQ3 · Road</a:t>
            </a:r>
          </a:p>
        </p:txBody>
      </p:sp>
      <p:sp>
        <p:nvSpPr>
          <p:cNvPr id="30" name="TextBox 29"/>
          <p:cNvSpPr txBox="1"/>
          <p:nvPr/>
        </p:nvSpPr>
        <p:spPr>
          <a:xfrm>
            <a:off x="7086600" y="3739896"/>
            <a:ext cx="4572000" cy="320040"/>
          </a:xfrm>
          <a:prstGeom prst="rect">
            <a:avLst/>
          </a:prstGeom>
          <a:noFill/>
        </p:spPr>
        <p:txBody>
          <a:bodyPr wrap="square" lIns="0" tIns="0" rIns="0" bIns="0" anchor="t">
            <a:spAutoFit/>
          </a:bodyPr>
          <a:lstStyle/>
          <a:p>
            <a:pPr algn="l">
              <a:spcAft>
                <a:spcPts val="0"/>
              </a:spcAft>
            </a:pPr>
            <a:r>
              <a:rPr sz="1400" b="0" i="0">
                <a:solidFill>
                  <a:srgbClr val="4A5563"/>
                </a:solidFill>
                <a:latin typeface="Calibri"/>
              </a:rPr>
              <a:t>Do highways, signals and junctions matter?</a:t>
            </a:r>
          </a:p>
        </p:txBody>
      </p:sp>
      <p:sp>
        <p:nvSpPr>
          <p:cNvPr id="31" name="Oval 30"/>
          <p:cNvSpPr/>
          <p:nvPr/>
        </p:nvSpPr>
        <p:spPr>
          <a:xfrm>
            <a:off x="6309360" y="4306824"/>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database_1E2228.png"/>
          <p:cNvPicPr>
            <a:picLocks noChangeAspect="1"/>
          </p:cNvPicPr>
          <p:nvPr/>
        </p:nvPicPr>
        <p:blipFill>
          <a:blip r:embed="rId6"/>
          <a:stretch>
            <a:fillRect/>
          </a:stretch>
        </p:blipFill>
        <p:spPr>
          <a:xfrm>
            <a:off x="6445422" y="4442886"/>
            <a:ext cx="294802" cy="294802"/>
          </a:xfrm>
          <a:prstGeom prst="rect">
            <a:avLst/>
          </a:prstGeom>
        </p:spPr>
      </p:pic>
      <p:sp>
        <p:nvSpPr>
          <p:cNvPr id="33" name="TextBox 32"/>
          <p:cNvSpPr txBox="1"/>
          <p:nvPr/>
        </p:nvSpPr>
        <p:spPr>
          <a:xfrm>
            <a:off x="7086600" y="4288536"/>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RQ4 · Consistency</a:t>
            </a:r>
          </a:p>
        </p:txBody>
      </p:sp>
      <p:sp>
        <p:nvSpPr>
          <p:cNvPr id="34" name="TextBox 33"/>
          <p:cNvSpPr txBox="1"/>
          <p:nvPr/>
        </p:nvSpPr>
        <p:spPr>
          <a:xfrm>
            <a:off x="7086600" y="4581144"/>
            <a:ext cx="4572000" cy="320040"/>
          </a:xfrm>
          <a:prstGeom prst="rect">
            <a:avLst/>
          </a:prstGeom>
          <a:noFill/>
        </p:spPr>
        <p:txBody>
          <a:bodyPr wrap="square" lIns="0" tIns="0" rIns="0" bIns="0" anchor="t">
            <a:spAutoFit/>
          </a:bodyPr>
          <a:lstStyle/>
          <a:p>
            <a:pPr algn="l">
              <a:spcAft>
                <a:spcPts val="0"/>
              </a:spcAft>
            </a:pPr>
            <a:r>
              <a:rPr sz="1400" b="0" i="0">
                <a:solidFill>
                  <a:srgbClr val="4A5563"/>
                </a:solidFill>
                <a:latin typeface="Calibri"/>
              </a:rPr>
              <a:t>Is the label the same across providers and years?</a:t>
            </a:r>
          </a:p>
        </p:txBody>
      </p:sp>
      <p:sp>
        <p:nvSpPr>
          <p:cNvPr id="35" name="Oval 34"/>
          <p:cNvSpPr/>
          <p:nvPr/>
        </p:nvSpPr>
        <p:spPr>
          <a:xfrm>
            <a:off x="6309360" y="5148072"/>
            <a:ext cx="566928" cy="56692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list-ul_1E2228.png"/>
          <p:cNvPicPr>
            <a:picLocks noChangeAspect="1"/>
          </p:cNvPicPr>
          <p:nvPr/>
        </p:nvPicPr>
        <p:blipFill>
          <a:blip r:embed="rId7"/>
          <a:stretch>
            <a:fillRect/>
          </a:stretch>
        </p:blipFill>
        <p:spPr>
          <a:xfrm>
            <a:off x="6445422" y="5284134"/>
            <a:ext cx="294802" cy="294802"/>
          </a:xfrm>
          <a:prstGeom prst="rect">
            <a:avLst/>
          </a:prstGeom>
        </p:spPr>
      </p:pic>
      <p:sp>
        <p:nvSpPr>
          <p:cNvPr id="37" name="TextBox 36"/>
          <p:cNvSpPr txBox="1"/>
          <p:nvPr/>
        </p:nvSpPr>
        <p:spPr>
          <a:xfrm>
            <a:off x="7086600" y="5129784"/>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RQ5 · Features</a:t>
            </a:r>
          </a:p>
        </p:txBody>
      </p:sp>
      <p:sp>
        <p:nvSpPr>
          <p:cNvPr id="38" name="TextBox 37"/>
          <p:cNvSpPr txBox="1"/>
          <p:nvPr/>
        </p:nvSpPr>
        <p:spPr>
          <a:xfrm>
            <a:off x="7086600" y="5422392"/>
            <a:ext cx="4572000" cy="320040"/>
          </a:xfrm>
          <a:prstGeom prst="rect">
            <a:avLst/>
          </a:prstGeom>
          <a:noFill/>
        </p:spPr>
        <p:txBody>
          <a:bodyPr wrap="square" lIns="0" tIns="0" rIns="0" bIns="0" anchor="t">
            <a:spAutoFit/>
          </a:bodyPr>
          <a:lstStyle/>
          <a:p>
            <a:pPr algn="l">
              <a:spcAft>
                <a:spcPts val="0"/>
              </a:spcAft>
            </a:pPr>
            <a:r>
              <a:rPr sz="1400" b="0" i="0">
                <a:solidFill>
                  <a:srgbClr val="4A5563"/>
                </a:solidFill>
                <a:latin typeface="Calibri"/>
              </a:rPr>
              <a:t>Which report-time information matters most?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500,000 accidents, and 4 out of 5 are Severity 2</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3</a:t>
            </a:r>
          </a:p>
        </p:txBody>
      </p:sp>
      <p:sp>
        <p:nvSpPr>
          <p:cNvPr id="5" name="Rounded Rectangle 4"/>
          <p:cNvSpPr/>
          <p:nvPr/>
        </p:nvSpPr>
        <p:spPr>
          <a:xfrm>
            <a:off x="548640" y="1325880"/>
            <a:ext cx="2423160" cy="141732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39"/>
            <a:ext cx="2103120" cy="68580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500K</a:t>
            </a:r>
          </a:p>
        </p:txBody>
      </p:sp>
      <p:sp>
        <p:nvSpPr>
          <p:cNvPr id="7" name="TextBox 6"/>
          <p:cNvSpPr txBox="1"/>
          <p:nvPr/>
        </p:nvSpPr>
        <p:spPr>
          <a:xfrm>
            <a:off x="731520" y="2167128"/>
            <a:ext cx="2103120" cy="5029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accidents (sample of 7.7M)</a:t>
            </a:r>
          </a:p>
        </p:txBody>
      </p:sp>
      <p:sp>
        <p:nvSpPr>
          <p:cNvPr id="8" name="Rounded Rectangle 7"/>
          <p:cNvSpPr/>
          <p:nvPr/>
        </p:nvSpPr>
        <p:spPr>
          <a:xfrm>
            <a:off x="3154680" y="1325880"/>
            <a:ext cx="2423160" cy="141732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1463039"/>
            <a:ext cx="2103120" cy="68580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46</a:t>
            </a:r>
          </a:p>
        </p:txBody>
      </p:sp>
      <p:sp>
        <p:nvSpPr>
          <p:cNvPr id="10" name="TextBox 9"/>
          <p:cNvSpPr txBox="1"/>
          <p:nvPr/>
        </p:nvSpPr>
        <p:spPr>
          <a:xfrm>
            <a:off x="3337560" y="2167128"/>
            <a:ext cx="2103120" cy="5029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columns: time, place, weather, road</a:t>
            </a:r>
          </a:p>
        </p:txBody>
      </p:sp>
      <p:sp>
        <p:nvSpPr>
          <p:cNvPr id="11" name="Rounded Rectangle 10"/>
          <p:cNvSpPr/>
          <p:nvPr/>
        </p:nvSpPr>
        <p:spPr>
          <a:xfrm>
            <a:off x="548640" y="2926080"/>
            <a:ext cx="2423160" cy="141732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063240"/>
            <a:ext cx="2103120" cy="68580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2016–23</a:t>
            </a:r>
          </a:p>
        </p:txBody>
      </p:sp>
      <p:sp>
        <p:nvSpPr>
          <p:cNvPr id="13" name="TextBox 12"/>
          <p:cNvSpPr txBox="1"/>
          <p:nvPr/>
        </p:nvSpPr>
        <p:spPr>
          <a:xfrm>
            <a:off x="731520" y="3767328"/>
            <a:ext cx="2103120" cy="5029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February 2016 to March 2023</a:t>
            </a:r>
          </a:p>
        </p:txBody>
      </p:sp>
      <p:sp>
        <p:nvSpPr>
          <p:cNvPr id="14" name="Rounded Rectangle 13"/>
          <p:cNvSpPr/>
          <p:nvPr/>
        </p:nvSpPr>
        <p:spPr>
          <a:xfrm>
            <a:off x="3154680" y="2926080"/>
            <a:ext cx="2423160" cy="141732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3063240"/>
            <a:ext cx="2103120" cy="68580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3</a:t>
            </a:r>
          </a:p>
        </p:txBody>
      </p:sp>
      <p:sp>
        <p:nvSpPr>
          <p:cNvPr id="16" name="TextBox 15"/>
          <p:cNvSpPr txBox="1"/>
          <p:nvPr/>
        </p:nvSpPr>
        <p:spPr>
          <a:xfrm>
            <a:off x="3337560" y="3767328"/>
            <a:ext cx="2103120" cy="5029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data providers, 49 states</a:t>
            </a:r>
          </a:p>
        </p:txBody>
      </p:sp>
      <p:sp>
        <p:nvSpPr>
          <p:cNvPr id="17" name="TextBox 16"/>
          <p:cNvSpPr txBox="1"/>
          <p:nvPr/>
        </p:nvSpPr>
        <p:spPr>
          <a:xfrm>
            <a:off x="548640" y="4572000"/>
            <a:ext cx="5029200" cy="1188720"/>
          </a:xfrm>
          <a:prstGeom prst="rect">
            <a:avLst/>
          </a:prstGeom>
          <a:noFill/>
        </p:spPr>
        <p:txBody>
          <a:bodyPr wrap="square" lIns="0" tIns="0" rIns="0" bIns="0" anchor="t">
            <a:spAutoFit/>
          </a:bodyPr>
          <a:lstStyle/>
          <a:p>
            <a:pPr algn="l">
              <a:spcAft>
                <a:spcPts val="0"/>
              </a:spcAft>
            </a:pPr>
            <a:r>
              <a:rPr sz="1300" b="1" i="0">
                <a:solidFill>
                  <a:srgbClr val="1E2228"/>
                </a:solidFill>
                <a:latin typeface="Calibri"/>
              </a:rPr>
              <a:t>Quality issues found: </a:t>
            </a:r>
            <a:r>
              <a:rPr sz="1300" b="0" i="0">
                <a:solidFill>
                  <a:srgbClr val="1E2228"/>
                </a:solidFill>
                <a:latin typeface="Calibri"/>
              </a:rPr>
              <a:t>missing values (up to 44%), leaking columns, impossible values (207 °F, 822 mph), 24 spellings of wind direction, 2,884 duplicates.</a:t>
            </a:r>
          </a:p>
        </p:txBody>
      </p:sp>
      <p:graphicFrame>
        <p:nvGraphicFramePr>
          <p:cNvPr id="18" name="Chart 17"/>
          <p:cNvGraphicFramePr>
            <a:graphicFrameLocks noGrp="1"/>
          </p:cNvGraphicFramePr>
          <p:nvPr/>
        </p:nvGraphicFramePr>
        <p:xfrm>
          <a:off x="6035040" y="1280160"/>
          <a:ext cx="55778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p:cNvSpPr txBox="1"/>
          <p:nvPr/>
        </p:nvSpPr>
        <p:spPr>
          <a:xfrm>
            <a:off x="548640" y="6053328"/>
            <a:ext cx="8229600" cy="274320"/>
          </a:xfrm>
          <a:prstGeom prst="rect">
            <a:avLst/>
          </a:prstGeom>
          <a:noFill/>
        </p:spPr>
        <p:txBody>
          <a:bodyPr wrap="square" lIns="0" tIns="0" rIns="0" bIns="0" anchor="t">
            <a:spAutoFit/>
          </a:bodyPr>
          <a:lstStyle/>
          <a:p>
            <a:pPr algn="l">
              <a:spcAft>
                <a:spcPts val="0"/>
              </a:spcAft>
            </a:pPr>
            <a:r>
              <a:rPr sz="1000" b="0" i="1">
                <a:solidFill>
                  <a:srgbClr val="8A919C"/>
                </a:solidFill>
                <a:latin typeface="Calibri"/>
              </a:rPr>
              <a:t>Source: US Accidents (Moosavi et al., 2019), Kaggle. The sample keeps the full dataset's class shares (±0.1 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We removed 11 columns that would give away the answer</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4</a:t>
            </a:r>
          </a:p>
        </p:txBody>
      </p:sp>
      <p:graphicFrame>
        <p:nvGraphicFramePr>
          <p:cNvPr id="5" name="Chart 4"/>
          <p:cNvGraphicFramePr>
            <a:graphicFrameLocks noGrp="1"/>
          </p:cNvGraphicFramePr>
          <p:nvPr/>
        </p:nvGraphicFramePr>
        <p:xfrm>
          <a:off x="548640" y="1280160"/>
          <a:ext cx="539496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6309360" y="1325880"/>
            <a:ext cx="5330952" cy="868680"/>
          </a:xfrm>
          <a:prstGeom prst="roundRect">
            <a:avLst>
              <a:gd name="adj" fmla="val 6000"/>
            </a:avLst>
          </a:prstGeom>
          <a:solidFill>
            <a:srgbClr val="26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37960" y="1417320"/>
            <a:ext cx="4892040" cy="685800"/>
          </a:xfrm>
          <a:prstGeom prst="rect">
            <a:avLst/>
          </a:prstGeom>
          <a:noFill/>
        </p:spPr>
        <p:txBody>
          <a:bodyPr wrap="square" lIns="0" tIns="0" rIns="0" bIns="0" anchor="ctr">
            <a:spAutoFit/>
          </a:bodyPr>
          <a:lstStyle/>
          <a:p>
            <a:pPr algn="l">
              <a:spcAft>
                <a:spcPts val="0"/>
              </a:spcAft>
            </a:pPr>
            <a:r>
              <a:rPr sz="1500" b="1" i="0">
                <a:solidFill>
                  <a:srgbClr val="F2A900"/>
                </a:solidFill>
                <a:latin typeface="Calibri"/>
              </a:rPr>
              <a:t>Our rule: </a:t>
            </a:r>
            <a:r>
              <a:rPr sz="1500" b="0" i="0">
                <a:solidFill>
                  <a:srgbClr val="FFFFFF"/>
                </a:solidFill>
                <a:latin typeface="Calibri"/>
              </a:rPr>
              <a:t>keep a column only if it is known when the accident is first reported.</a:t>
            </a:r>
          </a:p>
        </p:txBody>
      </p:sp>
      <p:sp>
        <p:nvSpPr>
          <p:cNvPr id="8" name="Oval 7"/>
          <p:cNvSpPr/>
          <p:nvPr/>
        </p:nvSpPr>
        <p:spPr>
          <a:xfrm>
            <a:off x="6309360" y="2468879"/>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riangle-exclamation_1E2228.png"/>
          <p:cNvPicPr>
            <a:picLocks noChangeAspect="1"/>
          </p:cNvPicPr>
          <p:nvPr/>
        </p:nvPicPr>
        <p:blipFill>
          <a:blip r:embed="rId4"/>
          <a:stretch>
            <a:fillRect/>
          </a:stretch>
        </p:blipFill>
        <p:spPr>
          <a:xfrm>
            <a:off x="6441033" y="2600553"/>
            <a:ext cx="285292" cy="285292"/>
          </a:xfrm>
          <a:prstGeom prst="rect">
            <a:avLst/>
          </a:prstGeom>
        </p:spPr>
      </p:pic>
      <p:sp>
        <p:nvSpPr>
          <p:cNvPr id="10" name="TextBox 9"/>
          <p:cNvSpPr txBox="1"/>
          <p:nvPr/>
        </p:nvSpPr>
        <p:spPr>
          <a:xfrm>
            <a:off x="7040880" y="2423160"/>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Leakage (5)</a:t>
            </a:r>
          </a:p>
        </p:txBody>
      </p:sp>
      <p:sp>
        <p:nvSpPr>
          <p:cNvPr id="11" name="TextBox 10"/>
          <p:cNvSpPr txBox="1"/>
          <p:nvPr/>
        </p:nvSpPr>
        <p:spPr>
          <a:xfrm>
            <a:off x="7040880" y="2724912"/>
            <a:ext cx="4572000" cy="64008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End_Time, End_Lat, End_Lng, Distance(mi), Description: only known after the accident</a:t>
            </a:r>
          </a:p>
        </p:txBody>
      </p:sp>
      <p:sp>
        <p:nvSpPr>
          <p:cNvPr id="12" name="Oval 11"/>
          <p:cNvSpPr/>
          <p:nvPr/>
        </p:nvSpPr>
        <p:spPr>
          <a:xfrm>
            <a:off x="6309360" y="3493008"/>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ban_1E2228.png"/>
          <p:cNvPicPr>
            <a:picLocks noChangeAspect="1"/>
          </p:cNvPicPr>
          <p:nvPr/>
        </p:nvPicPr>
        <p:blipFill>
          <a:blip r:embed="rId5"/>
          <a:stretch>
            <a:fillRect/>
          </a:stretch>
        </p:blipFill>
        <p:spPr>
          <a:xfrm>
            <a:off x="6441033" y="3624681"/>
            <a:ext cx="285292" cy="285292"/>
          </a:xfrm>
          <a:prstGeom prst="rect">
            <a:avLst/>
          </a:prstGeom>
        </p:spPr>
      </p:pic>
      <p:sp>
        <p:nvSpPr>
          <p:cNvPr id="14" name="TextBox 13"/>
          <p:cNvSpPr txBox="1"/>
          <p:nvPr/>
        </p:nvSpPr>
        <p:spPr>
          <a:xfrm>
            <a:off x="7040880" y="3447288"/>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No information (3)</a:t>
            </a:r>
          </a:p>
        </p:txBody>
      </p:sp>
      <p:sp>
        <p:nvSpPr>
          <p:cNvPr id="15" name="TextBox 14"/>
          <p:cNvSpPr txBox="1"/>
          <p:nvPr/>
        </p:nvSpPr>
        <p:spPr>
          <a:xfrm>
            <a:off x="7040880" y="3749039"/>
            <a:ext cx="4572000" cy="64008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ID, Country (always US), Turning_Loop (always False)</a:t>
            </a:r>
          </a:p>
        </p:txBody>
      </p:sp>
      <p:sp>
        <p:nvSpPr>
          <p:cNvPr id="16" name="Oval 15"/>
          <p:cNvSpPr/>
          <p:nvPr/>
        </p:nvSpPr>
        <p:spPr>
          <a:xfrm>
            <a:off x="6309360" y="4517136"/>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lone_1E2228.png"/>
          <p:cNvPicPr>
            <a:picLocks noChangeAspect="1"/>
          </p:cNvPicPr>
          <p:nvPr/>
        </p:nvPicPr>
        <p:blipFill>
          <a:blip r:embed="rId6"/>
          <a:stretch>
            <a:fillRect/>
          </a:stretch>
        </p:blipFill>
        <p:spPr>
          <a:xfrm>
            <a:off x="6441033" y="4648809"/>
            <a:ext cx="285292" cy="285292"/>
          </a:xfrm>
          <a:prstGeom prst="rect">
            <a:avLst/>
          </a:prstGeom>
        </p:spPr>
      </p:pic>
      <p:sp>
        <p:nvSpPr>
          <p:cNvPr id="18" name="TextBox 17"/>
          <p:cNvSpPr txBox="1"/>
          <p:nvPr/>
        </p:nvSpPr>
        <p:spPr>
          <a:xfrm>
            <a:off x="7040880" y="4471416"/>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Repeated (3)</a:t>
            </a:r>
          </a:p>
        </p:txBody>
      </p:sp>
      <p:sp>
        <p:nvSpPr>
          <p:cNvPr id="19" name="TextBox 18"/>
          <p:cNvSpPr txBox="1"/>
          <p:nvPr/>
        </p:nvSpPr>
        <p:spPr>
          <a:xfrm>
            <a:off x="7040880" y="4773168"/>
            <a:ext cx="4572000" cy="64008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Weather_Timestamp, Timezone, Airport_Code: same as time and place</a:t>
            </a:r>
          </a:p>
        </p:txBody>
      </p:sp>
      <p:sp>
        <p:nvSpPr>
          <p:cNvPr id="20" name="TextBox 19"/>
          <p:cNvSpPr txBox="1"/>
          <p:nvPr/>
        </p:nvSpPr>
        <p:spPr>
          <a:xfrm>
            <a:off x="6309360" y="5532120"/>
            <a:ext cx="5330952" cy="457200"/>
          </a:xfrm>
          <a:prstGeom prst="rect">
            <a:avLst/>
          </a:prstGeom>
          <a:noFill/>
        </p:spPr>
        <p:txBody>
          <a:bodyPr wrap="square" lIns="0" tIns="0" rIns="0" bIns="0" anchor="t">
            <a:spAutoFit/>
          </a:bodyPr>
          <a:lstStyle/>
          <a:p>
            <a:pPr algn="l">
              <a:spcAft>
                <a:spcPts val="0"/>
              </a:spcAft>
            </a:pPr>
            <a:r>
              <a:rPr sz="1200" b="0" i="1">
                <a:solidFill>
                  <a:srgbClr val="4A5563"/>
                </a:solidFill>
                <a:latin typeface="Calibri"/>
              </a:rPr>
              <a:t>Anything that learns from data (filling, encoding, scaling, selection) is fitted on the training split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Cleaning kept 99.1% of the rows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5</a:t>
            </a:r>
          </a:p>
        </p:txBody>
      </p:sp>
      <p:sp>
        <p:nvSpPr>
          <p:cNvPr id="5" name="Rounded Rectangle 4"/>
          <p:cNvSpPr/>
          <p:nvPr/>
        </p:nvSpPr>
        <p:spPr>
          <a:xfrm>
            <a:off x="548640" y="1325880"/>
            <a:ext cx="2606040" cy="1874519"/>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481328"/>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81328"/>
            <a:ext cx="457200" cy="457200"/>
          </a:xfrm>
          <a:prstGeom prst="rect">
            <a:avLst/>
          </a:prstGeom>
          <a:noFill/>
        </p:spPr>
        <p:txBody>
          <a:bodyPr wrap="square" lIns="0" tIns="0" rIns="0" bIns="0" anchor="ctr">
            <a:spAutoFit/>
          </a:bodyPr>
          <a:lstStyle/>
          <a:p>
            <a:pPr algn="ctr">
              <a:spcAft>
                <a:spcPts val="0"/>
              </a:spcAft>
            </a:pPr>
            <a:r>
              <a:rPr sz="1600" b="1" i="0">
                <a:solidFill>
                  <a:srgbClr val="1E2228"/>
                </a:solidFill>
                <a:latin typeface="Calibri"/>
              </a:rPr>
              <a:t>1</a:t>
            </a:r>
          </a:p>
        </p:txBody>
      </p:sp>
      <p:sp>
        <p:nvSpPr>
          <p:cNvPr id="8" name="TextBox 7"/>
          <p:cNvSpPr txBox="1"/>
          <p:nvPr/>
        </p:nvSpPr>
        <p:spPr>
          <a:xfrm>
            <a:off x="1325880" y="1481328"/>
            <a:ext cx="1783080" cy="45720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Drop columns</a:t>
            </a:r>
          </a:p>
        </p:txBody>
      </p:sp>
      <p:sp>
        <p:nvSpPr>
          <p:cNvPr id="9" name="TextBox 8"/>
          <p:cNvSpPr txBox="1"/>
          <p:nvPr/>
        </p:nvSpPr>
        <p:spPr>
          <a:xfrm>
            <a:off x="731520" y="2057400"/>
            <a:ext cx="2286000" cy="54864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11 leaking or useless columns removed</a:t>
            </a:r>
          </a:p>
        </p:txBody>
      </p:sp>
      <p:sp>
        <p:nvSpPr>
          <p:cNvPr id="10" name="TextBox 9"/>
          <p:cNvSpPr txBox="1"/>
          <p:nvPr/>
        </p:nvSpPr>
        <p:spPr>
          <a:xfrm>
            <a:off x="731520" y="2670048"/>
            <a:ext cx="2286000" cy="365760"/>
          </a:xfrm>
          <a:prstGeom prst="rect">
            <a:avLst/>
          </a:prstGeom>
          <a:noFill/>
        </p:spPr>
        <p:txBody>
          <a:bodyPr wrap="square" lIns="0" tIns="0" rIns="0" bIns="0" anchor="t">
            <a:spAutoFit/>
          </a:bodyPr>
          <a:lstStyle/>
          <a:p>
            <a:pPr algn="l">
              <a:spcAft>
                <a:spcPts val="0"/>
              </a:spcAft>
            </a:pPr>
            <a:r>
              <a:rPr sz="1500" b="1" i="0">
                <a:solidFill>
                  <a:srgbClr val="C62828"/>
                </a:solidFill>
                <a:latin typeface="Calibri"/>
              </a:rPr>
              <a:t>500,000 × 35</a:t>
            </a:r>
          </a:p>
        </p:txBody>
      </p:sp>
      <p:pic>
        <p:nvPicPr>
          <p:cNvPr id="11" name="Picture 10" descr="chevron-right_8A919C.png"/>
          <p:cNvPicPr>
            <a:picLocks noChangeAspect="1"/>
          </p:cNvPicPr>
          <p:nvPr/>
        </p:nvPicPr>
        <p:blipFill>
          <a:blip r:embed="rId3"/>
          <a:stretch>
            <a:fillRect/>
          </a:stretch>
        </p:blipFill>
        <p:spPr>
          <a:xfrm>
            <a:off x="3163824" y="2176272"/>
            <a:ext cx="182880" cy="182880"/>
          </a:xfrm>
          <a:prstGeom prst="rect">
            <a:avLst/>
          </a:prstGeom>
        </p:spPr>
      </p:pic>
      <p:sp>
        <p:nvSpPr>
          <p:cNvPr id="12" name="Rounded Rectangle 11"/>
          <p:cNvSpPr/>
          <p:nvPr/>
        </p:nvSpPr>
        <p:spPr>
          <a:xfrm>
            <a:off x="3355848" y="1325880"/>
            <a:ext cx="2606040" cy="1874519"/>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38728" y="1481328"/>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38728" y="1481328"/>
            <a:ext cx="457200" cy="457200"/>
          </a:xfrm>
          <a:prstGeom prst="rect">
            <a:avLst/>
          </a:prstGeom>
          <a:noFill/>
        </p:spPr>
        <p:txBody>
          <a:bodyPr wrap="square" lIns="0" tIns="0" rIns="0" bIns="0" anchor="ctr">
            <a:spAutoFit/>
          </a:bodyPr>
          <a:lstStyle/>
          <a:p>
            <a:pPr algn="ctr">
              <a:spcAft>
                <a:spcPts val="0"/>
              </a:spcAft>
            </a:pPr>
            <a:r>
              <a:rPr sz="1600" b="1" i="0">
                <a:solidFill>
                  <a:srgbClr val="1E2228"/>
                </a:solidFill>
                <a:latin typeface="Calibri"/>
              </a:rPr>
              <a:t>2</a:t>
            </a:r>
          </a:p>
        </p:txBody>
      </p:sp>
      <p:sp>
        <p:nvSpPr>
          <p:cNvPr id="15" name="TextBox 14"/>
          <p:cNvSpPr txBox="1"/>
          <p:nvPr/>
        </p:nvSpPr>
        <p:spPr>
          <a:xfrm>
            <a:off x="4133087" y="1481328"/>
            <a:ext cx="1783080" cy="45720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Duplicates</a:t>
            </a:r>
          </a:p>
        </p:txBody>
      </p:sp>
      <p:sp>
        <p:nvSpPr>
          <p:cNvPr id="16" name="TextBox 15"/>
          <p:cNvSpPr txBox="1"/>
          <p:nvPr/>
        </p:nvSpPr>
        <p:spPr>
          <a:xfrm>
            <a:off x="3538728" y="2057400"/>
            <a:ext cx="2286000" cy="54864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2,884 exact copies removed</a:t>
            </a:r>
          </a:p>
        </p:txBody>
      </p:sp>
      <p:sp>
        <p:nvSpPr>
          <p:cNvPr id="17" name="TextBox 16"/>
          <p:cNvSpPr txBox="1"/>
          <p:nvPr/>
        </p:nvSpPr>
        <p:spPr>
          <a:xfrm>
            <a:off x="3538728" y="2670048"/>
            <a:ext cx="2286000" cy="365760"/>
          </a:xfrm>
          <a:prstGeom prst="rect">
            <a:avLst/>
          </a:prstGeom>
          <a:noFill/>
        </p:spPr>
        <p:txBody>
          <a:bodyPr wrap="square" lIns="0" tIns="0" rIns="0" bIns="0" anchor="t">
            <a:spAutoFit/>
          </a:bodyPr>
          <a:lstStyle/>
          <a:p>
            <a:pPr algn="l">
              <a:spcAft>
                <a:spcPts val="0"/>
              </a:spcAft>
            </a:pPr>
            <a:r>
              <a:rPr sz="1500" b="1" i="0">
                <a:solidFill>
                  <a:srgbClr val="C62828"/>
                </a:solidFill>
                <a:latin typeface="Calibri"/>
              </a:rPr>
              <a:t>497,116 rows</a:t>
            </a:r>
          </a:p>
        </p:txBody>
      </p:sp>
      <p:pic>
        <p:nvPicPr>
          <p:cNvPr id="18" name="Picture 17" descr="chevron-right_8A919C.png"/>
          <p:cNvPicPr>
            <a:picLocks noChangeAspect="1"/>
          </p:cNvPicPr>
          <p:nvPr/>
        </p:nvPicPr>
        <p:blipFill>
          <a:blip r:embed="rId3"/>
          <a:stretch>
            <a:fillRect/>
          </a:stretch>
        </p:blipFill>
        <p:spPr>
          <a:xfrm>
            <a:off x="5971031" y="2176272"/>
            <a:ext cx="182880" cy="182880"/>
          </a:xfrm>
          <a:prstGeom prst="rect">
            <a:avLst/>
          </a:prstGeom>
        </p:spPr>
      </p:pic>
      <p:sp>
        <p:nvSpPr>
          <p:cNvPr id="19" name="Rounded Rectangle 18"/>
          <p:cNvSpPr/>
          <p:nvPr/>
        </p:nvSpPr>
        <p:spPr>
          <a:xfrm>
            <a:off x="6163055" y="1325880"/>
            <a:ext cx="2606040" cy="1874519"/>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45936" y="1481328"/>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1481328"/>
            <a:ext cx="457200" cy="457200"/>
          </a:xfrm>
          <a:prstGeom prst="rect">
            <a:avLst/>
          </a:prstGeom>
          <a:noFill/>
        </p:spPr>
        <p:txBody>
          <a:bodyPr wrap="square" lIns="0" tIns="0" rIns="0" bIns="0" anchor="ctr">
            <a:spAutoFit/>
          </a:bodyPr>
          <a:lstStyle/>
          <a:p>
            <a:pPr algn="ctr">
              <a:spcAft>
                <a:spcPts val="0"/>
              </a:spcAft>
            </a:pPr>
            <a:r>
              <a:rPr sz="1600" b="1" i="0">
                <a:solidFill>
                  <a:srgbClr val="1E2228"/>
                </a:solidFill>
                <a:latin typeface="Calibri"/>
              </a:rPr>
              <a:t>3</a:t>
            </a:r>
          </a:p>
        </p:txBody>
      </p:sp>
      <p:sp>
        <p:nvSpPr>
          <p:cNvPr id="22" name="TextBox 21"/>
          <p:cNvSpPr txBox="1"/>
          <p:nvPr/>
        </p:nvSpPr>
        <p:spPr>
          <a:xfrm>
            <a:off x="6940295" y="1481328"/>
            <a:ext cx="1783080" cy="45720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Missing values</a:t>
            </a:r>
          </a:p>
        </p:txBody>
      </p:sp>
      <p:sp>
        <p:nvSpPr>
          <p:cNvPr id="23" name="TextBox 22"/>
          <p:cNvSpPr txBox="1"/>
          <p:nvPr/>
        </p:nvSpPr>
        <p:spPr>
          <a:xfrm>
            <a:off x="6345936" y="2057400"/>
            <a:ext cx="2286000" cy="54864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A fix chosen per column (table below)</a:t>
            </a:r>
          </a:p>
        </p:txBody>
      </p:sp>
      <p:sp>
        <p:nvSpPr>
          <p:cNvPr id="24" name="TextBox 23"/>
          <p:cNvSpPr txBox="1"/>
          <p:nvPr/>
        </p:nvSpPr>
        <p:spPr>
          <a:xfrm>
            <a:off x="6345936" y="2670048"/>
            <a:ext cx="2286000" cy="365760"/>
          </a:xfrm>
          <a:prstGeom prst="rect">
            <a:avLst/>
          </a:prstGeom>
          <a:noFill/>
        </p:spPr>
        <p:txBody>
          <a:bodyPr wrap="square" lIns="0" tIns="0" rIns="0" bIns="0" anchor="t">
            <a:spAutoFit/>
          </a:bodyPr>
          <a:lstStyle/>
          <a:p>
            <a:pPr algn="l">
              <a:spcAft>
                <a:spcPts val="0"/>
              </a:spcAft>
            </a:pPr>
            <a:r>
              <a:rPr sz="1500" b="1" i="0">
                <a:solidFill>
                  <a:srgbClr val="C62828"/>
                </a:solidFill>
                <a:latin typeface="Calibri"/>
              </a:rPr>
              <a:t>495,532 rows</a:t>
            </a:r>
          </a:p>
        </p:txBody>
      </p:sp>
      <p:pic>
        <p:nvPicPr>
          <p:cNvPr id="25" name="Picture 24" descr="chevron-right_8A919C.png"/>
          <p:cNvPicPr>
            <a:picLocks noChangeAspect="1"/>
          </p:cNvPicPr>
          <p:nvPr/>
        </p:nvPicPr>
        <p:blipFill>
          <a:blip r:embed="rId3"/>
          <a:stretch>
            <a:fillRect/>
          </a:stretch>
        </p:blipFill>
        <p:spPr>
          <a:xfrm>
            <a:off x="8778240" y="2176272"/>
            <a:ext cx="182880" cy="182880"/>
          </a:xfrm>
          <a:prstGeom prst="rect">
            <a:avLst/>
          </a:prstGeom>
        </p:spPr>
      </p:pic>
      <p:sp>
        <p:nvSpPr>
          <p:cNvPr id="26" name="Rounded Rectangle 25"/>
          <p:cNvSpPr/>
          <p:nvPr/>
        </p:nvSpPr>
        <p:spPr>
          <a:xfrm>
            <a:off x="8970263" y="1325880"/>
            <a:ext cx="2606040" cy="1874519"/>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153143" y="1481328"/>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481328"/>
            <a:ext cx="457200" cy="457200"/>
          </a:xfrm>
          <a:prstGeom prst="rect">
            <a:avLst/>
          </a:prstGeom>
          <a:noFill/>
        </p:spPr>
        <p:txBody>
          <a:bodyPr wrap="square" lIns="0" tIns="0" rIns="0" bIns="0" anchor="ctr">
            <a:spAutoFit/>
          </a:bodyPr>
          <a:lstStyle/>
          <a:p>
            <a:pPr algn="ctr">
              <a:spcAft>
                <a:spcPts val="0"/>
              </a:spcAft>
            </a:pPr>
            <a:r>
              <a:rPr sz="1600" b="1" i="0">
                <a:solidFill>
                  <a:srgbClr val="1E2228"/>
                </a:solidFill>
                <a:latin typeface="Calibri"/>
              </a:rPr>
              <a:t>4</a:t>
            </a:r>
          </a:p>
        </p:txBody>
      </p:sp>
      <p:sp>
        <p:nvSpPr>
          <p:cNvPr id="29" name="TextBox 28"/>
          <p:cNvSpPr txBox="1"/>
          <p:nvPr/>
        </p:nvSpPr>
        <p:spPr>
          <a:xfrm>
            <a:off x="9747503" y="1481328"/>
            <a:ext cx="1783080" cy="45720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Outliers &amp; categories</a:t>
            </a:r>
          </a:p>
        </p:txBody>
      </p:sp>
      <p:sp>
        <p:nvSpPr>
          <p:cNvPr id="30" name="TextBox 29"/>
          <p:cNvSpPr txBox="1"/>
          <p:nvPr/>
        </p:nvSpPr>
        <p:spPr>
          <a:xfrm>
            <a:off x="9153143" y="2057400"/>
            <a:ext cx="2286000" cy="54864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13 impossible values set empty; categories merged</a:t>
            </a:r>
          </a:p>
        </p:txBody>
      </p:sp>
      <p:sp>
        <p:nvSpPr>
          <p:cNvPr id="31" name="TextBox 30"/>
          <p:cNvSpPr txBox="1"/>
          <p:nvPr/>
        </p:nvSpPr>
        <p:spPr>
          <a:xfrm>
            <a:off x="9153143" y="2670048"/>
            <a:ext cx="2286000" cy="365760"/>
          </a:xfrm>
          <a:prstGeom prst="rect">
            <a:avLst/>
          </a:prstGeom>
          <a:noFill/>
        </p:spPr>
        <p:txBody>
          <a:bodyPr wrap="square" lIns="0" tIns="0" rIns="0" bIns="0" anchor="t">
            <a:spAutoFit/>
          </a:bodyPr>
          <a:lstStyle/>
          <a:p>
            <a:pPr algn="l">
              <a:spcAft>
                <a:spcPts val="0"/>
              </a:spcAft>
            </a:pPr>
            <a:r>
              <a:rPr sz="1500" b="1" i="0">
                <a:solidFill>
                  <a:srgbClr val="C62828"/>
                </a:solidFill>
                <a:latin typeface="Calibri"/>
              </a:rPr>
              <a:t>495,532 × 36</a:t>
            </a:r>
          </a:p>
        </p:txBody>
      </p:sp>
      <p:sp>
        <p:nvSpPr>
          <p:cNvPr id="32" name="TextBox 31"/>
          <p:cNvSpPr txBox="1"/>
          <p:nvPr/>
        </p:nvSpPr>
        <p:spPr>
          <a:xfrm>
            <a:off x="548640" y="3474720"/>
            <a:ext cx="6035040" cy="320040"/>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Missing values: one fix per case</a:t>
            </a:r>
          </a:p>
        </p:txBody>
      </p:sp>
      <p:graphicFrame>
        <p:nvGraphicFramePr>
          <p:cNvPr id="33" name="Table 32"/>
          <p:cNvGraphicFramePr>
            <a:graphicFrameLocks noGrp="1"/>
          </p:cNvGraphicFramePr>
          <p:nvPr/>
        </p:nvGraphicFramePr>
        <p:xfrm>
          <a:off x="548640" y="3840480"/>
          <a:ext cx="6035040" cy="1975104"/>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29184">
                <a:tc>
                  <a:txBody>
                    <a:bodyPr/>
                    <a:lstStyle/>
                    <a:p>
                      <a:r>
                        <a:rPr sz="1100" b="1" i="0">
                          <a:solidFill>
                            <a:srgbClr val="FFFFFF"/>
                          </a:solidFill>
                          <a:latin typeface="Calibri"/>
                        </a:rPr>
                        <a:t>Column</a:t>
                      </a:r>
                    </a:p>
                  </a:txBody>
                  <a:tcPr marL="73152" marR="73152" marT="27432" marB="27432">
                    <a:solidFill>
                      <a:srgbClr val="26303B"/>
                    </a:solidFill>
                  </a:tcPr>
                </a:tc>
                <a:tc>
                  <a:txBody>
                    <a:bodyPr/>
                    <a:lstStyle/>
                    <a:p>
                      <a:r>
                        <a:rPr sz="1100" b="1" i="0">
                          <a:solidFill>
                            <a:srgbClr val="FFFFFF"/>
                          </a:solidFill>
                          <a:latin typeface="Calibri"/>
                        </a:rPr>
                        <a:t>What we did and why</a:t>
                      </a:r>
                    </a:p>
                  </a:txBody>
                  <a:tcPr marL="73152" marR="73152" marT="27432" marB="27432">
                    <a:solidFill>
                      <a:srgbClr val="26303B"/>
                    </a:solidFill>
                  </a:tcPr>
                </a:tc>
                <a:extLst>
                  <a:ext uri="{0D108BD9-81ED-4DB2-BD59-A6C34878D82A}">
                    <a16:rowId xmlns:a16="http://schemas.microsoft.com/office/drawing/2014/main" val="10000"/>
                  </a:ext>
                </a:extLst>
              </a:tr>
              <a:tr h="329184">
                <a:tc>
                  <a:txBody>
                    <a:bodyPr/>
                    <a:lstStyle/>
                    <a:p>
                      <a:r>
                        <a:rPr sz="1100" b="0" i="0">
                          <a:solidFill>
                            <a:srgbClr val="1E2228"/>
                          </a:solidFill>
                          <a:latin typeface="Calibri"/>
                        </a:rPr>
                        <a:t>Wind_Chill (26% empty)</a:t>
                      </a:r>
                    </a:p>
                  </a:txBody>
                  <a:tcPr marL="73152" marR="73152" marT="27432" marB="27432">
                    <a:solidFill>
                      <a:srgbClr val="FFFFFF"/>
                    </a:solidFill>
                  </a:tcPr>
                </a:tc>
                <a:tc>
                  <a:txBody>
                    <a:bodyPr/>
                    <a:lstStyle/>
                    <a:p>
                      <a:r>
                        <a:rPr sz="1100" b="0" i="0">
                          <a:solidFill>
                            <a:srgbClr val="1E2228"/>
                          </a:solidFill>
                          <a:latin typeface="Calibri"/>
                        </a:rPr>
                        <a:t>Dropped: almost a copy of Temperature (r = 0.994)</a:t>
                      </a:r>
                    </a:p>
                  </a:txBody>
                  <a:tcPr marL="73152" marR="73152" marT="27432" marB="27432">
                    <a:solidFill>
                      <a:srgbClr val="FFFFFF"/>
                    </a:solidFill>
                  </a:tcPr>
                </a:tc>
                <a:extLst>
                  <a:ext uri="{0D108BD9-81ED-4DB2-BD59-A6C34878D82A}">
                    <a16:rowId xmlns:a16="http://schemas.microsoft.com/office/drawing/2014/main" val="10001"/>
                  </a:ext>
                </a:extLst>
              </a:tr>
              <a:tr h="329184">
                <a:tc>
                  <a:txBody>
                    <a:bodyPr/>
                    <a:lstStyle/>
                    <a:p>
                      <a:r>
                        <a:rPr sz="1100" b="0" i="0">
                          <a:solidFill>
                            <a:srgbClr val="1E2228"/>
                          </a:solidFill>
                          <a:latin typeface="Calibri"/>
                        </a:rPr>
                        <a:t>Precipitation (29% empty)</a:t>
                      </a:r>
                    </a:p>
                  </a:txBody>
                  <a:tcPr marL="73152" marR="73152" marT="27432" marB="27432">
                    <a:solidFill>
                      <a:srgbClr val="F1F3F5"/>
                    </a:solidFill>
                  </a:tcPr>
                </a:tc>
                <a:tc>
                  <a:txBody>
                    <a:bodyPr/>
                    <a:lstStyle/>
                    <a:p>
                      <a:r>
                        <a:rPr sz="1100" b="0" i="0">
                          <a:solidFill>
                            <a:srgbClr val="1E2228"/>
                          </a:solidFill>
                          <a:latin typeface="Calibri"/>
                        </a:rPr>
                        <a:t>Filled with 0 + flag precip_missing (empty mostly means no rain)</a:t>
                      </a:r>
                    </a:p>
                  </a:txBody>
                  <a:tcPr marL="73152" marR="73152" marT="27432" marB="27432">
                    <a:solidFill>
                      <a:srgbClr val="F1F3F5"/>
                    </a:solidFill>
                  </a:tcPr>
                </a:tc>
                <a:extLst>
                  <a:ext uri="{0D108BD9-81ED-4DB2-BD59-A6C34878D82A}">
                    <a16:rowId xmlns:a16="http://schemas.microsoft.com/office/drawing/2014/main" val="10002"/>
                  </a:ext>
                </a:extLst>
              </a:tr>
              <a:tr h="329184">
                <a:tc>
                  <a:txBody>
                    <a:bodyPr/>
                    <a:lstStyle/>
                    <a:p>
                      <a:r>
                        <a:rPr sz="1100" b="0" i="0">
                          <a:solidFill>
                            <a:srgbClr val="1E2228"/>
                          </a:solidFill>
                          <a:latin typeface="Calibri"/>
                        </a:rPr>
                        <a:t>City, Zipcode, light (0.3%)</a:t>
                      </a:r>
                    </a:p>
                  </a:txBody>
                  <a:tcPr marL="73152" marR="73152" marT="27432" marB="27432">
                    <a:solidFill>
                      <a:srgbClr val="FFFFFF"/>
                    </a:solidFill>
                  </a:tcPr>
                </a:tc>
                <a:tc>
                  <a:txBody>
                    <a:bodyPr/>
                    <a:lstStyle/>
                    <a:p>
                      <a:r>
                        <a:rPr sz="1100" b="0" i="0">
                          <a:solidFill>
                            <a:srgbClr val="1E2228"/>
                          </a:solidFill>
                          <a:latin typeface="Calibri"/>
                        </a:rPr>
                        <a:t>Dropped 1,584 rows: too few to be worth guessing</a:t>
                      </a:r>
                    </a:p>
                  </a:txBody>
                  <a:tcPr marL="73152" marR="73152" marT="27432" marB="27432">
                    <a:solidFill>
                      <a:srgbClr val="FFFFFF"/>
                    </a:solidFill>
                  </a:tcPr>
                </a:tc>
                <a:extLst>
                  <a:ext uri="{0D108BD9-81ED-4DB2-BD59-A6C34878D82A}">
                    <a16:rowId xmlns:a16="http://schemas.microsoft.com/office/drawing/2014/main" val="10003"/>
                  </a:ext>
                </a:extLst>
              </a:tr>
              <a:tr h="329184">
                <a:tc>
                  <a:txBody>
                    <a:bodyPr/>
                    <a:lstStyle/>
                    <a:p>
                      <a:r>
                        <a:rPr sz="1100" b="0" i="0">
                          <a:solidFill>
                            <a:srgbClr val="1E2228"/>
                          </a:solidFill>
                          <a:latin typeface="Calibri"/>
                        </a:rPr>
                        <a:t>Weather text, wind direction</a:t>
                      </a:r>
                    </a:p>
                  </a:txBody>
                  <a:tcPr marL="73152" marR="73152" marT="27432" marB="27432">
                    <a:solidFill>
                      <a:srgbClr val="F1F3F5"/>
                    </a:solidFill>
                  </a:tcPr>
                </a:tc>
                <a:tc>
                  <a:txBody>
                    <a:bodyPr/>
                    <a:lstStyle/>
                    <a:p>
                      <a:r>
                        <a:rPr sz="1100" b="0" i="0">
                          <a:solidFill>
                            <a:srgbClr val="1E2228"/>
                          </a:solidFill>
                          <a:latin typeface="Calibri"/>
                        </a:rPr>
                        <a:t>New "Unknown" category: keeps the rows</a:t>
                      </a:r>
                    </a:p>
                  </a:txBody>
                  <a:tcPr marL="73152" marR="73152" marT="27432" marB="27432">
                    <a:solidFill>
                      <a:srgbClr val="F1F3F5"/>
                    </a:solidFill>
                  </a:tcPr>
                </a:tc>
                <a:extLst>
                  <a:ext uri="{0D108BD9-81ED-4DB2-BD59-A6C34878D82A}">
                    <a16:rowId xmlns:a16="http://schemas.microsoft.com/office/drawing/2014/main" val="10004"/>
                  </a:ext>
                </a:extLst>
              </a:tr>
              <a:tr h="329184">
                <a:tc>
                  <a:txBody>
                    <a:bodyPr/>
                    <a:lstStyle/>
                    <a:p>
                      <a:r>
                        <a:rPr sz="1100" b="0" i="0">
                          <a:solidFill>
                            <a:srgbClr val="1E2228"/>
                          </a:solidFill>
                          <a:latin typeface="Calibri"/>
                        </a:rPr>
                        <a:t>Temperature, humidity, …</a:t>
                      </a:r>
                    </a:p>
                  </a:txBody>
                  <a:tcPr marL="73152" marR="73152" marT="27432" marB="27432">
                    <a:solidFill>
                      <a:srgbClr val="FFFFFF"/>
                    </a:solidFill>
                  </a:tcPr>
                </a:tc>
                <a:tc>
                  <a:txBody>
                    <a:bodyPr/>
                    <a:lstStyle/>
                    <a:p>
                      <a:r>
                        <a:rPr sz="1100" b="0" i="0">
                          <a:solidFill>
                            <a:srgbClr val="1E2228"/>
                          </a:solidFill>
                          <a:latin typeface="Calibri"/>
                        </a:rPr>
                        <a:t>Training median, filled later: avoids test-data leakage</a:t>
                      </a:r>
                    </a:p>
                  </a:txBody>
                  <a:tcPr marL="73152" marR="73152" marT="27432" marB="27432">
                    <a:solidFill>
                      <a:srgbClr val="FFFFFF"/>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949440" y="3474720"/>
            <a:ext cx="4663440" cy="320040"/>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Outliers and messy categories</a:t>
            </a:r>
          </a:p>
        </p:txBody>
      </p:sp>
      <p:sp>
        <p:nvSpPr>
          <p:cNvPr id="35" name="Oval 34"/>
          <p:cNvSpPr/>
          <p:nvPr/>
        </p:nvSpPr>
        <p:spPr>
          <a:xfrm>
            <a:off x="6949440" y="388620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temperature-half_1E2228.png"/>
          <p:cNvPicPr>
            <a:picLocks noChangeAspect="1"/>
          </p:cNvPicPr>
          <p:nvPr/>
        </p:nvPicPr>
        <p:blipFill>
          <a:blip r:embed="rId4"/>
          <a:stretch>
            <a:fillRect/>
          </a:stretch>
        </p:blipFill>
        <p:spPr>
          <a:xfrm>
            <a:off x="7059168" y="3995928"/>
            <a:ext cx="237744" cy="237744"/>
          </a:xfrm>
          <a:prstGeom prst="rect">
            <a:avLst/>
          </a:prstGeom>
        </p:spPr>
      </p:pic>
      <p:sp>
        <p:nvSpPr>
          <p:cNvPr id="37" name="TextBox 36"/>
          <p:cNvSpPr txBox="1"/>
          <p:nvPr/>
        </p:nvSpPr>
        <p:spPr>
          <a:xfrm>
            <a:off x="7543800" y="3858768"/>
            <a:ext cx="4069080" cy="658368"/>
          </a:xfrm>
          <a:prstGeom prst="rect">
            <a:avLst/>
          </a:prstGeom>
          <a:noFill/>
        </p:spPr>
        <p:txBody>
          <a:bodyPr wrap="square" lIns="0" tIns="0" rIns="0" bIns="0" anchor="t">
            <a:spAutoFit/>
          </a:bodyPr>
          <a:lstStyle/>
          <a:p>
            <a:pPr algn="l">
              <a:spcAft>
                <a:spcPts val="0"/>
              </a:spcAft>
            </a:pPr>
            <a:r>
              <a:rPr sz="1200" b="1" i="0">
                <a:solidFill>
                  <a:srgbClr val="1E2228"/>
                </a:solidFill>
                <a:latin typeface="Calibri"/>
              </a:rPr>
              <a:t>Physical limits: </a:t>
            </a:r>
            <a:r>
              <a:rPr sz="1200" b="0" i="0">
                <a:solidFill>
                  <a:srgbClr val="1E2228"/>
                </a:solidFill>
                <a:latin typeface="Calibri"/>
              </a:rPr>
              <a:t>temperature −50 to 130 °F, wind ≤ 200 mph, visibility ≤ 100 mi, pressure 15–32 inHg</a:t>
            </a:r>
          </a:p>
        </p:txBody>
      </p:sp>
      <p:sp>
        <p:nvSpPr>
          <p:cNvPr id="38" name="Oval 37"/>
          <p:cNvSpPr/>
          <p:nvPr/>
        </p:nvSpPr>
        <p:spPr>
          <a:xfrm>
            <a:off x="6949440" y="461772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ompass_1E2228.png"/>
          <p:cNvPicPr>
            <a:picLocks noChangeAspect="1"/>
          </p:cNvPicPr>
          <p:nvPr/>
        </p:nvPicPr>
        <p:blipFill>
          <a:blip r:embed="rId5"/>
          <a:stretch>
            <a:fillRect/>
          </a:stretch>
        </p:blipFill>
        <p:spPr>
          <a:xfrm>
            <a:off x="7059168" y="4727448"/>
            <a:ext cx="237744" cy="237744"/>
          </a:xfrm>
          <a:prstGeom prst="rect">
            <a:avLst/>
          </a:prstGeom>
        </p:spPr>
      </p:pic>
      <p:sp>
        <p:nvSpPr>
          <p:cNvPr id="40" name="TextBox 39"/>
          <p:cNvSpPr txBox="1"/>
          <p:nvPr/>
        </p:nvSpPr>
        <p:spPr>
          <a:xfrm>
            <a:off x="7543800" y="4590288"/>
            <a:ext cx="4069080" cy="658368"/>
          </a:xfrm>
          <a:prstGeom prst="rect">
            <a:avLst/>
          </a:prstGeom>
          <a:noFill/>
        </p:spPr>
        <p:txBody>
          <a:bodyPr wrap="square" lIns="0" tIns="0" rIns="0" bIns="0" anchor="t">
            <a:spAutoFit/>
          </a:bodyPr>
          <a:lstStyle/>
          <a:p>
            <a:pPr algn="l">
              <a:spcAft>
                <a:spcPts val="0"/>
              </a:spcAft>
            </a:pPr>
            <a:r>
              <a:rPr sz="1200" b="1" i="0">
                <a:solidFill>
                  <a:srgbClr val="1E2228"/>
                </a:solidFill>
                <a:latin typeface="Calibri"/>
              </a:rPr>
              <a:t>Wind direction: </a:t>
            </a:r>
            <a:r>
              <a:rPr sz="1200" b="0" i="0">
                <a:solidFill>
                  <a:srgbClr val="1E2228"/>
                </a:solidFill>
                <a:latin typeface="Calibri"/>
              </a:rPr>
              <a:t>24 spellings → 16 compass points + CALM + VAR</a:t>
            </a:r>
          </a:p>
        </p:txBody>
      </p:sp>
      <p:sp>
        <p:nvSpPr>
          <p:cNvPr id="41" name="Oval 40"/>
          <p:cNvSpPr/>
          <p:nvPr/>
        </p:nvSpPr>
        <p:spPr>
          <a:xfrm>
            <a:off x="6949440" y="5349240"/>
            <a:ext cx="457200" cy="457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cloud-sun-rain_1E2228.png"/>
          <p:cNvPicPr>
            <a:picLocks noChangeAspect="1"/>
          </p:cNvPicPr>
          <p:nvPr/>
        </p:nvPicPr>
        <p:blipFill>
          <a:blip r:embed="rId6"/>
          <a:stretch>
            <a:fillRect/>
          </a:stretch>
        </p:blipFill>
        <p:spPr>
          <a:xfrm>
            <a:off x="7059168" y="5458968"/>
            <a:ext cx="237744" cy="237744"/>
          </a:xfrm>
          <a:prstGeom prst="rect">
            <a:avLst/>
          </a:prstGeom>
        </p:spPr>
      </p:pic>
      <p:sp>
        <p:nvSpPr>
          <p:cNvPr id="43" name="TextBox 42"/>
          <p:cNvSpPr txBox="1"/>
          <p:nvPr/>
        </p:nvSpPr>
        <p:spPr>
          <a:xfrm>
            <a:off x="7543800" y="5321807"/>
            <a:ext cx="4069080" cy="658368"/>
          </a:xfrm>
          <a:prstGeom prst="rect">
            <a:avLst/>
          </a:prstGeom>
          <a:noFill/>
        </p:spPr>
        <p:txBody>
          <a:bodyPr wrap="square" lIns="0" tIns="0" rIns="0" bIns="0" anchor="t">
            <a:spAutoFit/>
          </a:bodyPr>
          <a:lstStyle/>
          <a:p>
            <a:pPr algn="l">
              <a:spcAft>
                <a:spcPts val="0"/>
              </a:spcAft>
            </a:pPr>
            <a:r>
              <a:rPr sz="1200" b="1" i="0">
                <a:solidFill>
                  <a:srgbClr val="1E2228"/>
                </a:solidFill>
                <a:latin typeface="Calibri"/>
              </a:rPr>
              <a:t>Weather: </a:t>
            </a:r>
            <a:r>
              <a:rPr sz="1200" b="0" i="0">
                <a:solidFill>
                  <a:srgbClr val="1E2228"/>
                </a:solidFill>
                <a:latin typeface="Calibri"/>
              </a:rPr>
              <a:t>108 labels → 8 groups (the most dangerous rule wins)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Accidents follow commuting, big cities and highways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6</a:t>
            </a:r>
          </a:p>
        </p:txBody>
      </p:sp>
      <p:pic>
        <p:nvPicPr>
          <p:cNvPr id="5" name="Picture 4" descr="02_accidents_by_time.png"/>
          <p:cNvPicPr>
            <a:picLocks noChangeAspect="1"/>
          </p:cNvPicPr>
          <p:nvPr/>
        </p:nvPicPr>
        <p:blipFill>
          <a:blip r:embed="rId3"/>
          <a:stretch>
            <a:fillRect/>
          </a:stretch>
        </p:blipFill>
        <p:spPr>
          <a:xfrm>
            <a:off x="548640" y="1280160"/>
            <a:ext cx="5669280" cy="3031977"/>
          </a:xfrm>
          <a:prstGeom prst="rect">
            <a:avLst/>
          </a:prstGeom>
        </p:spPr>
      </p:pic>
      <p:pic>
        <p:nvPicPr>
          <p:cNvPr id="6" name="Picture 5" descr="05_accident_density_map.png"/>
          <p:cNvPicPr>
            <a:picLocks noChangeAspect="1"/>
          </p:cNvPicPr>
          <p:nvPr/>
        </p:nvPicPr>
        <p:blipFill>
          <a:blip r:embed="rId4"/>
          <a:stretch>
            <a:fillRect/>
          </a:stretch>
        </p:blipFill>
        <p:spPr>
          <a:xfrm>
            <a:off x="6446520" y="1280160"/>
            <a:ext cx="5193792" cy="2981838"/>
          </a:xfrm>
          <a:prstGeom prst="rect">
            <a:avLst/>
          </a:prstGeom>
        </p:spPr>
      </p:pic>
      <p:sp>
        <p:nvSpPr>
          <p:cNvPr id="7" name="Oval 6"/>
          <p:cNvSpPr/>
          <p:nvPr/>
        </p:nvSpPr>
        <p:spPr>
          <a:xfrm>
            <a:off x="548640" y="4800600"/>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ar_1E2228.png"/>
          <p:cNvPicPr>
            <a:picLocks noChangeAspect="1"/>
          </p:cNvPicPr>
          <p:nvPr/>
        </p:nvPicPr>
        <p:blipFill>
          <a:blip r:embed="rId5"/>
          <a:stretch>
            <a:fillRect/>
          </a:stretch>
        </p:blipFill>
        <p:spPr>
          <a:xfrm>
            <a:off x="669340" y="4921300"/>
            <a:ext cx="261518" cy="261518"/>
          </a:xfrm>
          <a:prstGeom prst="rect">
            <a:avLst/>
          </a:prstGeom>
        </p:spPr>
      </p:pic>
      <p:sp>
        <p:nvSpPr>
          <p:cNvPr id="9" name="TextBox 8"/>
          <p:cNvSpPr txBox="1"/>
          <p:nvPr/>
        </p:nvSpPr>
        <p:spPr>
          <a:xfrm>
            <a:off x="1188719" y="4782312"/>
            <a:ext cx="2971800" cy="914400"/>
          </a:xfrm>
          <a:prstGeom prst="rect">
            <a:avLst/>
          </a:prstGeom>
          <a:noFill/>
        </p:spPr>
        <p:txBody>
          <a:bodyPr wrap="square" lIns="0" tIns="0" rIns="0" bIns="0" anchor="t">
            <a:spAutoFit/>
          </a:bodyPr>
          <a:lstStyle/>
          <a:p>
            <a:pPr algn="l">
              <a:spcAft>
                <a:spcPts val="0"/>
              </a:spcAft>
            </a:pPr>
            <a:r>
              <a:rPr sz="1300" b="0" i="0">
                <a:solidFill>
                  <a:srgbClr val="1E2228"/>
                </a:solidFill>
                <a:latin typeface="Calibri"/>
              </a:rPr>
              <a:t>Two daily peaks at 7–8 h and 15–17 h; half as many on weekends</a:t>
            </a:r>
          </a:p>
        </p:txBody>
      </p:sp>
      <p:sp>
        <p:nvSpPr>
          <p:cNvPr id="10" name="Oval 9"/>
          <p:cNvSpPr/>
          <p:nvPr/>
        </p:nvSpPr>
        <p:spPr>
          <a:xfrm>
            <a:off x="4297679" y="4800600"/>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cation-dot_1E2228.png"/>
          <p:cNvPicPr>
            <a:picLocks noChangeAspect="1"/>
          </p:cNvPicPr>
          <p:nvPr/>
        </p:nvPicPr>
        <p:blipFill>
          <a:blip r:embed="rId6"/>
          <a:stretch>
            <a:fillRect/>
          </a:stretch>
        </p:blipFill>
        <p:spPr>
          <a:xfrm>
            <a:off x="4418380" y="4921300"/>
            <a:ext cx="261518" cy="261518"/>
          </a:xfrm>
          <a:prstGeom prst="rect">
            <a:avLst/>
          </a:prstGeom>
        </p:spPr>
      </p:pic>
      <p:sp>
        <p:nvSpPr>
          <p:cNvPr id="12" name="TextBox 11"/>
          <p:cNvSpPr txBox="1"/>
          <p:nvPr/>
        </p:nvSpPr>
        <p:spPr>
          <a:xfrm>
            <a:off x="4937759" y="4782312"/>
            <a:ext cx="2971800" cy="914400"/>
          </a:xfrm>
          <a:prstGeom prst="rect">
            <a:avLst/>
          </a:prstGeom>
          <a:noFill/>
        </p:spPr>
        <p:txBody>
          <a:bodyPr wrap="square" lIns="0" tIns="0" rIns="0" bIns="0" anchor="t">
            <a:spAutoFit/>
          </a:bodyPr>
          <a:lstStyle/>
          <a:p>
            <a:pPr algn="l">
              <a:spcAft>
                <a:spcPts val="0"/>
              </a:spcAft>
            </a:pPr>
            <a:r>
              <a:rPr sz="1300" b="0" i="0">
                <a:solidFill>
                  <a:srgbClr val="1E2228"/>
                </a:solidFill>
                <a:latin typeface="Calibri"/>
              </a:rPr>
              <a:t>California 23%, Florida 11%, Texas 7.5% of accidents</a:t>
            </a:r>
          </a:p>
        </p:txBody>
      </p:sp>
      <p:sp>
        <p:nvSpPr>
          <p:cNvPr id="13" name="Oval 12"/>
          <p:cNvSpPr/>
          <p:nvPr/>
        </p:nvSpPr>
        <p:spPr>
          <a:xfrm>
            <a:off x="8046719" y="4800600"/>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chart-line_1E2228.png"/>
          <p:cNvPicPr>
            <a:picLocks noChangeAspect="1"/>
          </p:cNvPicPr>
          <p:nvPr/>
        </p:nvPicPr>
        <p:blipFill>
          <a:blip r:embed="rId7"/>
          <a:stretch>
            <a:fillRect/>
          </a:stretch>
        </p:blipFill>
        <p:spPr>
          <a:xfrm>
            <a:off x="8167420" y="4921300"/>
            <a:ext cx="261518" cy="261518"/>
          </a:xfrm>
          <a:prstGeom prst="rect">
            <a:avLst/>
          </a:prstGeom>
        </p:spPr>
      </p:pic>
      <p:sp>
        <p:nvSpPr>
          <p:cNvPr id="15" name="TextBox 14"/>
          <p:cNvSpPr txBox="1"/>
          <p:nvPr/>
        </p:nvSpPr>
        <p:spPr>
          <a:xfrm>
            <a:off x="8686799" y="4782312"/>
            <a:ext cx="2971800" cy="914400"/>
          </a:xfrm>
          <a:prstGeom prst="rect">
            <a:avLst/>
          </a:prstGeom>
          <a:noFill/>
        </p:spPr>
        <p:txBody>
          <a:bodyPr wrap="square" lIns="0" tIns="0" rIns="0" bIns="0" anchor="t">
            <a:spAutoFit/>
          </a:bodyPr>
          <a:lstStyle/>
          <a:p>
            <a:pPr algn="l">
              <a:spcAft>
                <a:spcPts val="0"/>
              </a:spcAft>
            </a:pPr>
            <a:r>
              <a:rPr sz="1300" b="0" i="0">
                <a:solidFill>
                  <a:srgbClr val="1E2228"/>
                </a:solidFill>
                <a:latin typeface="Calibri"/>
              </a:rPr>
              <a:t>Yearly count grows 4× (2016 → 2022): better data collection, not more accidents</a:t>
            </a:r>
          </a:p>
        </p:txBody>
      </p:sp>
      <p:sp>
        <p:nvSpPr>
          <p:cNvPr id="16" name="TextBox 15"/>
          <p:cNvSpPr txBox="1"/>
          <p:nvPr/>
        </p:nvSpPr>
        <p:spPr>
          <a:xfrm>
            <a:off x="548640" y="6053328"/>
            <a:ext cx="8229600" cy="274320"/>
          </a:xfrm>
          <a:prstGeom prst="rect">
            <a:avLst/>
          </a:prstGeom>
          <a:noFill/>
        </p:spPr>
        <p:txBody>
          <a:bodyPr wrap="square" lIns="0" tIns="0" rIns="0" bIns="0" anchor="t">
            <a:spAutoFit/>
          </a:bodyPr>
          <a:lstStyle/>
          <a:p>
            <a:pPr algn="l">
              <a:spcAft>
                <a:spcPts val="0"/>
              </a:spcAft>
            </a:pPr>
            <a:r>
              <a:rPr sz="1000" b="0" i="1">
                <a:solidFill>
                  <a:srgbClr val="8A919C"/>
                </a:solidFill>
                <a:latin typeface="Calibri"/>
              </a:rPr>
              <a:t>Figures 3 and 5 of the report (reports/figures).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RQ1–RQ2: night and bad weather matter, but only a little</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7</a:t>
            </a:r>
          </a:p>
        </p:txBody>
      </p:sp>
      <p:graphicFrame>
        <p:nvGraphicFramePr>
          <p:cNvPr id="5" name="Chart 4"/>
          <p:cNvGraphicFramePr>
            <a:graphicFrameLocks noGrp="1"/>
          </p:cNvGraphicFramePr>
          <p:nvPr/>
        </p:nvGraphicFramePr>
        <p:xfrm>
          <a:off x="548640" y="1280160"/>
          <a:ext cx="365760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noGrp="1"/>
          </p:cNvGraphicFramePr>
          <p:nvPr/>
        </p:nvGraphicFramePr>
        <p:xfrm>
          <a:off x="4434840" y="1280160"/>
          <a:ext cx="365760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7" name="Rounded Rectangle 6"/>
          <p:cNvSpPr/>
          <p:nvPr/>
        </p:nvSpPr>
        <p:spPr>
          <a:xfrm>
            <a:off x="8366760" y="1325880"/>
            <a:ext cx="3273552" cy="320040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0" y="1463040"/>
            <a:ext cx="2834640" cy="320040"/>
          </a:xfrm>
          <a:prstGeom prst="rect">
            <a:avLst/>
          </a:prstGeom>
          <a:noFill/>
        </p:spPr>
        <p:txBody>
          <a:bodyPr wrap="square" lIns="0" tIns="0" rIns="0" bIns="0" anchor="t">
            <a:spAutoFit/>
          </a:bodyPr>
          <a:lstStyle/>
          <a:p>
            <a:pPr algn="l">
              <a:spcAft>
                <a:spcPts val="0"/>
              </a:spcAft>
            </a:pPr>
            <a:r>
              <a:rPr sz="1300" b="1" i="0">
                <a:solidFill>
                  <a:srgbClr val="1E2228"/>
                </a:solidFill>
                <a:latin typeface="Calibri"/>
              </a:rPr>
              <a:t>Effect size (Cramér's V)</a:t>
            </a:r>
          </a:p>
        </p:txBody>
      </p:sp>
      <p:sp>
        <p:nvSpPr>
          <p:cNvPr id="9" name="TextBox 8"/>
          <p:cNvSpPr txBox="1"/>
          <p:nvPr/>
        </p:nvSpPr>
        <p:spPr>
          <a:xfrm>
            <a:off x="8595360" y="1828800"/>
            <a:ext cx="2834640" cy="64008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0.05</a:t>
            </a:r>
          </a:p>
        </p:txBody>
      </p:sp>
      <p:sp>
        <p:nvSpPr>
          <p:cNvPr id="10" name="TextBox 9"/>
          <p:cNvSpPr txBox="1"/>
          <p:nvPr/>
        </p:nvSpPr>
        <p:spPr>
          <a:xfrm>
            <a:off x="8595360" y="2487168"/>
            <a:ext cx="2834640" cy="2743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day / night</a:t>
            </a:r>
          </a:p>
        </p:txBody>
      </p:sp>
      <p:sp>
        <p:nvSpPr>
          <p:cNvPr id="11" name="TextBox 10"/>
          <p:cNvSpPr txBox="1"/>
          <p:nvPr/>
        </p:nvSpPr>
        <p:spPr>
          <a:xfrm>
            <a:off x="8595360" y="2834640"/>
            <a:ext cx="2834640" cy="640080"/>
          </a:xfrm>
          <a:prstGeom prst="rect">
            <a:avLst/>
          </a:prstGeom>
          <a:noFill/>
        </p:spPr>
        <p:txBody>
          <a:bodyPr wrap="square" lIns="0" tIns="0" rIns="0" bIns="0" anchor="t">
            <a:spAutoFit/>
          </a:bodyPr>
          <a:lstStyle/>
          <a:p>
            <a:pPr algn="l">
              <a:spcAft>
                <a:spcPts val="0"/>
              </a:spcAft>
            </a:pPr>
            <a:r>
              <a:rPr sz="3400" b="1" i="0">
                <a:solidFill>
                  <a:srgbClr val="1E2228"/>
                </a:solidFill>
                <a:latin typeface="Cambria"/>
              </a:rPr>
              <a:t>0.04</a:t>
            </a:r>
          </a:p>
        </p:txBody>
      </p:sp>
      <p:sp>
        <p:nvSpPr>
          <p:cNvPr id="12" name="TextBox 11"/>
          <p:cNvSpPr txBox="1"/>
          <p:nvPr/>
        </p:nvSpPr>
        <p:spPr>
          <a:xfrm>
            <a:off x="8595360" y="3493008"/>
            <a:ext cx="2834640" cy="274320"/>
          </a:xfrm>
          <a:prstGeom prst="rect">
            <a:avLst/>
          </a:prstGeom>
          <a:noFill/>
        </p:spPr>
        <p:txBody>
          <a:bodyPr wrap="square" lIns="0" tIns="0" rIns="0" bIns="0" anchor="t">
            <a:spAutoFit/>
          </a:bodyPr>
          <a:lstStyle/>
          <a:p>
            <a:pPr algn="l">
              <a:spcAft>
                <a:spcPts val="0"/>
              </a:spcAft>
            </a:pPr>
            <a:r>
              <a:rPr sz="1200" b="0" i="0">
                <a:solidFill>
                  <a:srgbClr val="4A5563"/>
                </a:solidFill>
                <a:latin typeface="Calibri"/>
              </a:rPr>
              <a:t>weather group</a:t>
            </a:r>
          </a:p>
        </p:txBody>
      </p:sp>
      <p:sp>
        <p:nvSpPr>
          <p:cNvPr id="13" name="TextBox 12"/>
          <p:cNvSpPr txBox="1"/>
          <p:nvPr/>
        </p:nvSpPr>
        <p:spPr>
          <a:xfrm>
            <a:off x="8595360" y="3931920"/>
            <a:ext cx="2834640" cy="274320"/>
          </a:xfrm>
          <a:prstGeom prst="rect">
            <a:avLst/>
          </a:prstGeom>
          <a:noFill/>
        </p:spPr>
        <p:txBody>
          <a:bodyPr wrap="square" lIns="0" tIns="0" rIns="0" bIns="0" anchor="t">
            <a:spAutoFit/>
          </a:bodyPr>
          <a:lstStyle/>
          <a:p>
            <a:pPr algn="l">
              <a:spcAft>
                <a:spcPts val="0"/>
              </a:spcAft>
            </a:pPr>
            <a:r>
              <a:rPr sz="1100" b="0" i="1">
                <a:solidFill>
                  <a:srgbClr val="8A919C"/>
                </a:solidFill>
                <a:latin typeface="Calibri"/>
              </a:rPr>
              <a:t>below 0.1 = very small</a:t>
            </a:r>
          </a:p>
        </p:txBody>
      </p:sp>
      <p:sp>
        <p:nvSpPr>
          <p:cNvPr id="14" name="Oval 13"/>
          <p:cNvSpPr/>
          <p:nvPr/>
        </p:nvSpPr>
        <p:spPr>
          <a:xfrm>
            <a:off x="548640" y="484632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moon_1E2228.png"/>
          <p:cNvPicPr>
            <a:picLocks noChangeAspect="1"/>
          </p:cNvPicPr>
          <p:nvPr/>
        </p:nvPicPr>
        <p:blipFill>
          <a:blip r:embed="rId5"/>
          <a:stretch>
            <a:fillRect/>
          </a:stretch>
        </p:blipFill>
        <p:spPr>
          <a:xfrm>
            <a:off x="680313" y="4977993"/>
            <a:ext cx="285292" cy="285292"/>
          </a:xfrm>
          <a:prstGeom prst="rect">
            <a:avLst/>
          </a:prstGeom>
        </p:spPr>
      </p:pic>
      <p:sp>
        <p:nvSpPr>
          <p:cNvPr id="16" name="TextBox 15"/>
          <p:cNvSpPr txBox="1"/>
          <p:nvPr/>
        </p:nvSpPr>
        <p:spPr>
          <a:xfrm>
            <a:off x="1280160" y="4800600"/>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Time (RQ1)</a:t>
            </a:r>
          </a:p>
        </p:txBody>
      </p:sp>
      <p:sp>
        <p:nvSpPr>
          <p:cNvPr id="17" name="TextBox 16"/>
          <p:cNvSpPr txBox="1"/>
          <p:nvPr/>
        </p:nvSpPr>
        <p:spPr>
          <a:xfrm>
            <a:off x="1280160" y="5120640"/>
            <a:ext cx="4572000" cy="77724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Rush hour has the most accidents, not the worst. Severity 4 peaks around midnight (5–6% vs 1.6% at 7–8 h).</a:t>
            </a:r>
          </a:p>
        </p:txBody>
      </p:sp>
      <p:sp>
        <p:nvSpPr>
          <p:cNvPr id="18" name="Oval 17"/>
          <p:cNvSpPr/>
          <p:nvPr/>
        </p:nvSpPr>
        <p:spPr>
          <a:xfrm>
            <a:off x="6126479" y="484632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nowflake_1E2228.png"/>
          <p:cNvPicPr>
            <a:picLocks noChangeAspect="1"/>
          </p:cNvPicPr>
          <p:nvPr/>
        </p:nvPicPr>
        <p:blipFill>
          <a:blip r:embed="rId6"/>
          <a:stretch>
            <a:fillRect/>
          </a:stretch>
        </p:blipFill>
        <p:spPr>
          <a:xfrm>
            <a:off x="6258153" y="4977993"/>
            <a:ext cx="285292" cy="285292"/>
          </a:xfrm>
          <a:prstGeom prst="rect">
            <a:avLst/>
          </a:prstGeom>
        </p:spPr>
      </p:pic>
      <p:sp>
        <p:nvSpPr>
          <p:cNvPr id="20" name="TextBox 19"/>
          <p:cNvSpPr txBox="1"/>
          <p:nvPr/>
        </p:nvSpPr>
        <p:spPr>
          <a:xfrm>
            <a:off x="6857999" y="4800600"/>
            <a:ext cx="4572000" cy="292608"/>
          </a:xfrm>
          <a:prstGeom prst="rect">
            <a:avLst/>
          </a:prstGeom>
          <a:noFill/>
        </p:spPr>
        <p:txBody>
          <a:bodyPr wrap="square" lIns="0" tIns="0" rIns="0" bIns="0" anchor="t">
            <a:spAutoFit/>
          </a:bodyPr>
          <a:lstStyle/>
          <a:p>
            <a:pPr algn="l">
              <a:spcAft>
                <a:spcPts val="0"/>
              </a:spcAft>
            </a:pPr>
            <a:r>
              <a:rPr sz="1400" b="1" i="0">
                <a:solidFill>
                  <a:srgbClr val="1E2228"/>
                </a:solidFill>
                <a:latin typeface="Calibri"/>
              </a:rPr>
              <a:t>Weather (RQ2)</a:t>
            </a:r>
          </a:p>
        </p:txBody>
      </p:sp>
      <p:sp>
        <p:nvSpPr>
          <p:cNvPr id="21" name="TextBox 20"/>
          <p:cNvSpPr txBox="1"/>
          <p:nvPr/>
        </p:nvSpPr>
        <p:spPr>
          <a:xfrm>
            <a:off x="6857999" y="5120640"/>
            <a:ext cx="4572000" cy="77724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Snow / ice raises Severity 4 (3.4% vs 2.6%). Visibility is the same for every level (median 10 mi).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RQ3–RQ4: road type and data provider matter most</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8</a:t>
            </a:r>
          </a:p>
        </p:txBody>
      </p:sp>
      <p:graphicFrame>
        <p:nvGraphicFramePr>
          <p:cNvPr id="5" name="Chart 4"/>
          <p:cNvGraphicFramePr>
            <a:graphicFrameLocks noGrp="1"/>
          </p:cNvGraphicFramePr>
          <p:nvPr/>
        </p:nvGraphicFramePr>
        <p:xfrm>
          <a:off x="548640" y="1280160"/>
          <a:ext cx="5394960" cy="3611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noGrp="1"/>
          </p:cNvGraphicFramePr>
          <p:nvPr/>
        </p:nvGraphicFramePr>
        <p:xfrm>
          <a:off x="6263640" y="1280160"/>
          <a:ext cx="539496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7" name="Rounded Rectangle 6"/>
          <p:cNvSpPr/>
          <p:nvPr/>
        </p:nvSpPr>
        <p:spPr>
          <a:xfrm>
            <a:off x="548640" y="5029200"/>
            <a:ext cx="5394960" cy="86868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5120640"/>
            <a:ext cx="4983480" cy="685800"/>
          </a:xfrm>
          <a:prstGeom prst="rect">
            <a:avLst/>
          </a:prstGeom>
          <a:noFill/>
        </p:spPr>
        <p:txBody>
          <a:bodyPr wrap="square" lIns="0" tIns="0" rIns="0" bIns="0" anchor="ctr">
            <a:spAutoFit/>
          </a:bodyPr>
          <a:lstStyle/>
          <a:p>
            <a:pPr algn="l">
              <a:spcAft>
                <a:spcPts val="0"/>
              </a:spcAft>
            </a:pPr>
            <a:r>
              <a:rPr sz="1300" b="0" i="0">
                <a:solidFill>
                  <a:srgbClr val="1E2228"/>
                </a:solidFill>
                <a:latin typeface="Calibri"/>
              </a:rPr>
              <a:t>Near traffic signals, crossings or stop signs only 6–10% are high-impact: slow city streets.</a:t>
            </a:r>
          </a:p>
        </p:txBody>
      </p:sp>
      <p:sp>
        <p:nvSpPr>
          <p:cNvPr id="9" name="Rounded Rectangle 8"/>
          <p:cNvSpPr/>
          <p:nvPr/>
        </p:nvSpPr>
        <p:spPr>
          <a:xfrm>
            <a:off x="6263640" y="5029200"/>
            <a:ext cx="5394960" cy="868680"/>
          </a:xfrm>
          <a:prstGeom prst="roundRect">
            <a:avLst>
              <a:gd name="adj" fmla="val 6000"/>
            </a:avLst>
          </a:prstGeom>
          <a:solidFill>
            <a:srgbClr val="26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5120640"/>
            <a:ext cx="4983480" cy="685800"/>
          </a:xfrm>
          <a:prstGeom prst="rect">
            <a:avLst/>
          </a:prstGeom>
          <a:noFill/>
        </p:spPr>
        <p:txBody>
          <a:bodyPr wrap="square" lIns="0" tIns="0" rIns="0" bIns="0" anchor="ctr">
            <a:spAutoFit/>
          </a:bodyPr>
          <a:lstStyle/>
          <a:p>
            <a:pPr algn="l">
              <a:spcAft>
                <a:spcPts val="0"/>
              </a:spcAft>
            </a:pPr>
            <a:r>
              <a:rPr sz="1300" b="1" i="0">
                <a:solidFill>
                  <a:srgbClr val="F2A900"/>
                </a:solidFill>
                <a:latin typeface="Calibri"/>
              </a:rPr>
              <a:t>Part of the label is who recorded it. </a:t>
            </a:r>
            <a:r>
              <a:rPr sz="1300" b="0" i="0">
                <a:solidFill>
                  <a:srgbClr val="FFFFFF"/>
                </a:solidFill>
                <a:latin typeface="Calibri"/>
              </a:rPr>
              <a:t>Severity 3 fell from 32% (2017–18) to 4.5% (2022) as Source1 replaced Source2.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Hypothesis tests: all significant, few are strong</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9</a:t>
            </a:r>
          </a:p>
        </p:txBody>
      </p:sp>
      <p:graphicFrame>
        <p:nvGraphicFramePr>
          <p:cNvPr id="5" name="Chart 4"/>
          <p:cNvGraphicFramePr>
            <a:graphicFrameLocks noGrp="1"/>
          </p:cNvGraphicFramePr>
          <p:nvPr/>
        </p:nvGraphicFramePr>
        <p:xfrm>
          <a:off x="6035040" y="1280160"/>
          <a:ext cx="55778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035040" y="5285232"/>
            <a:ext cx="5577840" cy="274320"/>
          </a:xfrm>
          <a:prstGeom prst="rect">
            <a:avLst/>
          </a:prstGeom>
          <a:noFill/>
        </p:spPr>
        <p:txBody>
          <a:bodyPr wrap="square" lIns="0" tIns="0" rIns="0" bIns="0" anchor="t">
            <a:spAutoFit/>
          </a:bodyPr>
          <a:lstStyle/>
          <a:p>
            <a:pPr algn="ctr">
              <a:spcAft>
                <a:spcPts val="0"/>
              </a:spcAft>
            </a:pPr>
            <a:r>
              <a:rPr sz="1100" b="0" i="1">
                <a:solidFill>
                  <a:srgbClr val="8A919C"/>
                </a:solidFill>
                <a:latin typeface="Calibri"/>
              </a:rPr>
              <a:t>0.1 = small · 0.3 = medium · 0.5 = large</a:t>
            </a:r>
          </a:p>
        </p:txBody>
      </p:sp>
      <p:sp>
        <p:nvSpPr>
          <p:cNvPr id="7" name="Oval 6"/>
          <p:cNvSpPr/>
          <p:nvPr/>
        </p:nvSpPr>
        <p:spPr>
          <a:xfrm>
            <a:off x="548640" y="137160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able_1E2228.png"/>
          <p:cNvPicPr>
            <a:picLocks noChangeAspect="1"/>
          </p:cNvPicPr>
          <p:nvPr/>
        </p:nvPicPr>
        <p:blipFill>
          <a:blip r:embed="rId4"/>
          <a:stretch>
            <a:fillRect/>
          </a:stretch>
        </p:blipFill>
        <p:spPr>
          <a:xfrm>
            <a:off x="680313" y="1503273"/>
            <a:ext cx="285292" cy="285292"/>
          </a:xfrm>
          <a:prstGeom prst="rect">
            <a:avLst/>
          </a:prstGeom>
        </p:spPr>
      </p:pic>
      <p:sp>
        <p:nvSpPr>
          <p:cNvPr id="9" name="TextBox 8"/>
          <p:cNvSpPr txBox="1"/>
          <p:nvPr/>
        </p:nvSpPr>
        <p:spPr>
          <a:xfrm>
            <a:off x="1280160" y="1353312"/>
            <a:ext cx="4572000" cy="292608"/>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Chi-square test</a:t>
            </a:r>
          </a:p>
        </p:txBody>
      </p:sp>
      <p:sp>
        <p:nvSpPr>
          <p:cNvPr id="10" name="TextBox 9"/>
          <p:cNvSpPr txBox="1"/>
          <p:nvPr/>
        </p:nvSpPr>
        <p:spPr>
          <a:xfrm>
            <a:off x="1280160" y="1673352"/>
            <a:ext cx="4572000" cy="100584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For categorical variables. H0: the variable and Severity are independent. Needs expected counts ≥ 5, so 203 "Other" weather rows were left out.</a:t>
            </a:r>
          </a:p>
        </p:txBody>
      </p:sp>
      <p:sp>
        <p:nvSpPr>
          <p:cNvPr id="11" name="Oval 10"/>
          <p:cNvSpPr/>
          <p:nvPr/>
        </p:nvSpPr>
        <p:spPr>
          <a:xfrm>
            <a:off x="548640" y="283464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emperature-half_1E2228.png"/>
          <p:cNvPicPr>
            <a:picLocks noChangeAspect="1"/>
          </p:cNvPicPr>
          <p:nvPr/>
        </p:nvPicPr>
        <p:blipFill>
          <a:blip r:embed="rId5"/>
          <a:stretch>
            <a:fillRect/>
          </a:stretch>
        </p:blipFill>
        <p:spPr>
          <a:xfrm>
            <a:off x="680313" y="2966313"/>
            <a:ext cx="285292" cy="285292"/>
          </a:xfrm>
          <a:prstGeom prst="rect">
            <a:avLst/>
          </a:prstGeom>
        </p:spPr>
      </p:pic>
      <p:sp>
        <p:nvSpPr>
          <p:cNvPr id="13" name="TextBox 12"/>
          <p:cNvSpPr txBox="1"/>
          <p:nvPr/>
        </p:nvSpPr>
        <p:spPr>
          <a:xfrm>
            <a:off x="1280160" y="2816352"/>
            <a:ext cx="4572000" cy="292608"/>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Kruskal-Wallis test</a:t>
            </a:r>
          </a:p>
        </p:txBody>
      </p:sp>
      <p:sp>
        <p:nvSpPr>
          <p:cNvPr id="14" name="TextBox 13"/>
          <p:cNvSpPr txBox="1"/>
          <p:nvPr/>
        </p:nvSpPr>
        <p:spPr>
          <a:xfrm>
            <a:off x="1280160" y="3136392"/>
            <a:ext cx="4572000" cy="100584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For temperature across 4 levels, instead of ANOVA: not normal (p ≈ 10⁻⁴¹) and unequal variances (p ≈ 10⁻¹⁹⁴).</a:t>
            </a:r>
          </a:p>
        </p:txBody>
      </p:sp>
      <p:sp>
        <p:nvSpPr>
          <p:cNvPr id="15" name="Oval 14"/>
          <p:cNvSpPr/>
          <p:nvPr/>
        </p:nvSpPr>
        <p:spPr>
          <a:xfrm>
            <a:off x="548640" y="4297680"/>
            <a:ext cx="548640" cy="54864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cale-balanced_1E2228.png"/>
          <p:cNvPicPr>
            <a:picLocks noChangeAspect="1"/>
          </p:cNvPicPr>
          <p:nvPr/>
        </p:nvPicPr>
        <p:blipFill>
          <a:blip r:embed="rId6"/>
          <a:stretch>
            <a:fillRect/>
          </a:stretch>
        </p:blipFill>
        <p:spPr>
          <a:xfrm>
            <a:off x="680313" y="4429353"/>
            <a:ext cx="285292" cy="285292"/>
          </a:xfrm>
          <a:prstGeom prst="rect">
            <a:avLst/>
          </a:prstGeom>
        </p:spPr>
      </p:pic>
      <p:sp>
        <p:nvSpPr>
          <p:cNvPr id="17" name="TextBox 16"/>
          <p:cNvSpPr txBox="1"/>
          <p:nvPr/>
        </p:nvSpPr>
        <p:spPr>
          <a:xfrm>
            <a:off x="1280160" y="4279392"/>
            <a:ext cx="4572000" cy="292608"/>
          </a:xfrm>
          <a:prstGeom prst="rect">
            <a:avLst/>
          </a:prstGeom>
          <a:noFill/>
        </p:spPr>
        <p:txBody>
          <a:bodyPr wrap="square" lIns="0" tIns="0" rIns="0" bIns="0" anchor="t">
            <a:spAutoFit/>
          </a:bodyPr>
          <a:lstStyle/>
          <a:p>
            <a:pPr algn="l">
              <a:spcAft>
                <a:spcPts val="0"/>
              </a:spcAft>
            </a:pPr>
            <a:r>
              <a:rPr sz="1500" b="1" i="0">
                <a:solidFill>
                  <a:srgbClr val="1E2228"/>
                </a:solidFill>
                <a:latin typeface="Calibri"/>
              </a:rPr>
              <a:t>Why effect sizes</a:t>
            </a:r>
          </a:p>
        </p:txBody>
      </p:sp>
      <p:sp>
        <p:nvSpPr>
          <p:cNvPr id="18" name="TextBox 17"/>
          <p:cNvSpPr txBox="1"/>
          <p:nvPr/>
        </p:nvSpPr>
        <p:spPr>
          <a:xfrm>
            <a:off x="1280160" y="4599432"/>
            <a:ext cx="4572000" cy="100584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With 500,000 rows every p ≈ 0. Effect size shows how strong the link is; we also re-ran each test on 5,000 rows.</a:t>
            </a:r>
          </a:p>
        </p:txBody>
      </p:sp>
      <p:sp>
        <p:nvSpPr>
          <p:cNvPr id="19" name="TextBox 18"/>
          <p:cNvSpPr txBox="1"/>
          <p:nvPr/>
        </p:nvSpPr>
        <p:spPr>
          <a:xfrm>
            <a:off x="548640" y="5715000"/>
            <a:ext cx="11064240" cy="274320"/>
          </a:xfrm>
          <a:prstGeom prst="rect">
            <a:avLst/>
          </a:prstGeom>
          <a:noFill/>
        </p:spPr>
        <p:txBody>
          <a:bodyPr wrap="square" lIns="0" tIns="0" rIns="0" bIns="0" anchor="t">
            <a:spAutoFit/>
          </a:bodyPr>
          <a:lstStyle/>
          <a:p>
            <a:pPr algn="l">
              <a:spcAft>
                <a:spcPts val="0"/>
              </a:spcAft>
            </a:pPr>
            <a:r>
              <a:rPr sz="1100" b="0" i="0">
                <a:solidFill>
                  <a:srgbClr val="8A919C"/>
                </a:solidFill>
                <a:latin typeface="Calibri"/>
              </a:rPr>
              <a:t>α = 0.05 · temperature: H = 1,818, ε² = 0.004 (very small) · junction not significant on 5,000 rows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From 41 candidates to 36 leakage-safe inputs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10</a:t>
            </a:r>
          </a:p>
        </p:txBody>
      </p:sp>
      <p:sp>
        <p:nvSpPr>
          <p:cNvPr id="5" name="Rounded Rectangle 4"/>
          <p:cNvSpPr/>
          <p:nvPr/>
        </p:nvSpPr>
        <p:spPr>
          <a:xfrm>
            <a:off x="548640" y="1325880"/>
            <a:ext cx="2606040" cy="306324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481328"/>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ircle-plus_1E2228.png"/>
          <p:cNvPicPr>
            <a:picLocks noChangeAspect="1"/>
          </p:cNvPicPr>
          <p:nvPr/>
        </p:nvPicPr>
        <p:blipFill>
          <a:blip r:embed="rId3"/>
          <a:stretch>
            <a:fillRect/>
          </a:stretch>
        </p:blipFill>
        <p:spPr>
          <a:xfrm>
            <a:off x="852220" y="1602028"/>
            <a:ext cx="261518" cy="261518"/>
          </a:xfrm>
          <a:prstGeom prst="rect">
            <a:avLst/>
          </a:prstGeom>
        </p:spPr>
      </p:pic>
      <p:sp>
        <p:nvSpPr>
          <p:cNvPr id="8" name="TextBox 7"/>
          <p:cNvSpPr txBox="1"/>
          <p:nvPr/>
        </p:nvSpPr>
        <p:spPr>
          <a:xfrm>
            <a:off x="1371600" y="1481328"/>
            <a:ext cx="1691640" cy="502920"/>
          </a:xfrm>
          <a:prstGeom prst="rect">
            <a:avLst/>
          </a:prstGeom>
          <a:noFill/>
        </p:spPr>
        <p:txBody>
          <a:bodyPr wrap="square" lIns="0" tIns="0" rIns="0" bIns="0" anchor="ctr">
            <a:spAutoFit/>
          </a:bodyPr>
          <a:lstStyle/>
          <a:p>
            <a:pPr algn="l">
              <a:spcAft>
                <a:spcPts val="0"/>
              </a:spcAft>
            </a:pPr>
            <a:r>
              <a:rPr sz="1600" b="1" i="0">
                <a:solidFill>
                  <a:srgbClr val="1E2228"/>
                </a:solidFill>
                <a:latin typeface="Calibri"/>
              </a:rPr>
              <a:t>Create</a:t>
            </a:r>
          </a:p>
        </p:txBody>
      </p:sp>
      <p:sp>
        <p:nvSpPr>
          <p:cNvPr id="9" name="TextBox 8"/>
          <p:cNvSpPr txBox="1"/>
          <p:nvPr/>
        </p:nvSpPr>
        <p:spPr>
          <a:xfrm>
            <a:off x="731520" y="2148840"/>
            <a:ext cx="2331720" cy="2651760"/>
          </a:xfrm>
          <a:prstGeom prst="rect">
            <a:avLst/>
          </a:prstGeom>
          <a:noFill/>
        </p:spPr>
        <p:txBody>
          <a:bodyPr wrap="square" lIns="0" tIns="0" rIns="0" bIns="0" anchor="t">
            <a:spAutoFit/>
          </a:bodyPr>
          <a:lstStyle/>
          <a:p>
            <a:pPr algn="l">
              <a:spcAft>
                <a:spcPts val="400"/>
              </a:spcAft>
            </a:pPr>
            <a:r>
              <a:rPr sz="1300" b="0" i="0">
                <a:solidFill>
                  <a:srgbClr val="4A5563"/>
                </a:solidFill>
                <a:latin typeface="Calibri"/>
              </a:rPr>
              <a:t>•  hour, weekday, season</a:t>
            </a:r>
          </a:p>
          <a:p>
            <a:pPr algn="l">
              <a:spcAft>
                <a:spcPts val="400"/>
              </a:spcAft>
            </a:pPr>
            <a:r>
              <a:rPr sz="1300" b="0" i="0">
                <a:solidFill>
                  <a:srgbClr val="4A5563"/>
                </a:solidFill>
                <a:latin typeface="Calibri"/>
              </a:rPr>
              <a:t>•  is_weekend, is_rush_hour</a:t>
            </a:r>
          </a:p>
          <a:p>
            <a:pPr algn="l">
              <a:spcAft>
                <a:spcPts val="400"/>
              </a:spcAft>
            </a:pPr>
            <a:r>
              <a:rPr sz="1300" b="0" i="0">
                <a:solidFill>
                  <a:srgbClr val="4A5563"/>
                </a:solidFill>
                <a:latin typeface="Calibri"/>
              </a:rPr>
              <a:t>•  civil / astro night</a:t>
            </a:r>
          </a:p>
          <a:p>
            <a:pPr algn="l">
              <a:spcAft>
                <a:spcPts val="400"/>
              </a:spcAft>
            </a:pPr>
            <a:r>
              <a:rPr sz="1300" b="0" i="0">
                <a:solidFill>
                  <a:srgbClr val="4A5563"/>
                </a:solidFill>
                <a:latin typeface="Calibri"/>
              </a:rPr>
              <a:t>•  bad_weather, precip_missing</a:t>
            </a:r>
          </a:p>
          <a:p>
            <a:pPr algn="l">
              <a:spcAft>
                <a:spcPts val="400"/>
              </a:spcAft>
            </a:pPr>
            <a:r>
              <a:rPr sz="1300" b="0" i="0">
                <a:solidFill>
                  <a:srgbClr val="4A5563"/>
                </a:solidFill>
                <a:latin typeface="Calibri"/>
              </a:rPr>
              <a:t>•  road_feature_count</a:t>
            </a:r>
          </a:p>
          <a:p>
            <a:pPr algn="l">
              <a:spcAft>
                <a:spcPts val="400"/>
              </a:spcAft>
            </a:pPr>
            <a:r>
              <a:rPr sz="1300" b="0" i="0">
                <a:solidFill>
                  <a:srgbClr val="4A5563"/>
                </a:solidFill>
                <a:latin typeface="Calibri"/>
              </a:rPr>
              <a:t>•  is_highway (28% vs 11%)</a:t>
            </a:r>
          </a:p>
        </p:txBody>
      </p:sp>
      <p:pic>
        <p:nvPicPr>
          <p:cNvPr id="10" name="Picture 9" descr="chevron-right_8A919C.png"/>
          <p:cNvPicPr>
            <a:picLocks noChangeAspect="1"/>
          </p:cNvPicPr>
          <p:nvPr/>
        </p:nvPicPr>
        <p:blipFill>
          <a:blip r:embed="rId4"/>
          <a:stretch>
            <a:fillRect/>
          </a:stretch>
        </p:blipFill>
        <p:spPr>
          <a:xfrm>
            <a:off x="3163824" y="2761488"/>
            <a:ext cx="182880" cy="182880"/>
          </a:xfrm>
          <a:prstGeom prst="rect">
            <a:avLst/>
          </a:prstGeom>
        </p:spPr>
      </p:pic>
      <p:sp>
        <p:nvSpPr>
          <p:cNvPr id="11" name="Rounded Rectangle 10"/>
          <p:cNvSpPr/>
          <p:nvPr/>
        </p:nvSpPr>
        <p:spPr>
          <a:xfrm>
            <a:off x="3355848" y="1325880"/>
            <a:ext cx="2606040" cy="306324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38728" y="1481328"/>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cissors_1E2228.png"/>
          <p:cNvPicPr>
            <a:picLocks noChangeAspect="1"/>
          </p:cNvPicPr>
          <p:nvPr/>
        </p:nvPicPr>
        <p:blipFill>
          <a:blip r:embed="rId5"/>
          <a:stretch>
            <a:fillRect/>
          </a:stretch>
        </p:blipFill>
        <p:spPr>
          <a:xfrm>
            <a:off x="3659428" y="1602028"/>
            <a:ext cx="261518" cy="261518"/>
          </a:xfrm>
          <a:prstGeom prst="rect">
            <a:avLst/>
          </a:prstGeom>
        </p:spPr>
      </p:pic>
      <p:sp>
        <p:nvSpPr>
          <p:cNvPr id="14" name="TextBox 13"/>
          <p:cNvSpPr txBox="1"/>
          <p:nvPr/>
        </p:nvSpPr>
        <p:spPr>
          <a:xfrm>
            <a:off x="4178808" y="1481328"/>
            <a:ext cx="1691640" cy="502920"/>
          </a:xfrm>
          <a:prstGeom prst="rect">
            <a:avLst/>
          </a:prstGeom>
          <a:noFill/>
        </p:spPr>
        <p:txBody>
          <a:bodyPr wrap="square" lIns="0" tIns="0" rIns="0" bIns="0" anchor="ctr">
            <a:spAutoFit/>
          </a:bodyPr>
          <a:lstStyle/>
          <a:p>
            <a:pPr algn="l">
              <a:spcAft>
                <a:spcPts val="0"/>
              </a:spcAft>
            </a:pPr>
            <a:r>
              <a:rPr sz="1600" b="1" i="0">
                <a:solidFill>
                  <a:srgbClr val="1E2228"/>
                </a:solidFill>
                <a:latin typeface="Calibri"/>
              </a:rPr>
              <a:t>Split first</a:t>
            </a:r>
          </a:p>
        </p:txBody>
      </p:sp>
      <p:sp>
        <p:nvSpPr>
          <p:cNvPr id="15" name="TextBox 14"/>
          <p:cNvSpPr txBox="1"/>
          <p:nvPr/>
        </p:nvSpPr>
        <p:spPr>
          <a:xfrm>
            <a:off x="3538728" y="2148840"/>
            <a:ext cx="2331720" cy="2651760"/>
          </a:xfrm>
          <a:prstGeom prst="rect">
            <a:avLst/>
          </a:prstGeom>
          <a:noFill/>
        </p:spPr>
        <p:txBody>
          <a:bodyPr wrap="square" lIns="0" tIns="0" rIns="0" bIns="0" anchor="t">
            <a:spAutoFit/>
          </a:bodyPr>
          <a:lstStyle/>
          <a:p>
            <a:pPr algn="l">
              <a:spcAft>
                <a:spcPts val="400"/>
              </a:spcAft>
            </a:pPr>
            <a:r>
              <a:rPr sz="1300" b="0" i="0">
                <a:solidFill>
                  <a:srgbClr val="4A5563"/>
                </a:solidFill>
                <a:latin typeface="Calibri"/>
              </a:rPr>
              <a:t>•  80% train / 20% test</a:t>
            </a:r>
          </a:p>
          <a:p>
            <a:pPr algn="l">
              <a:spcAft>
                <a:spcPts val="400"/>
              </a:spcAft>
            </a:pPr>
            <a:r>
              <a:rPr sz="1300" b="0" i="0">
                <a:solidFill>
                  <a:srgbClr val="4A5563"/>
                </a:solidFill>
                <a:latin typeface="Calibri"/>
              </a:rPr>
              <a:t>•  stratified by Severity</a:t>
            </a:r>
          </a:p>
          <a:p>
            <a:pPr algn="l">
              <a:spcAft>
                <a:spcPts val="400"/>
              </a:spcAft>
            </a:pPr>
            <a:r>
              <a:rPr sz="1300" b="0" i="0">
                <a:solidFill>
                  <a:srgbClr val="4A5563"/>
                </a:solidFill>
                <a:latin typeface="Calibri"/>
              </a:rPr>
              <a:t>•  seed 42</a:t>
            </a:r>
          </a:p>
          <a:p>
            <a:pPr algn="l">
              <a:spcAft>
                <a:spcPts val="400"/>
              </a:spcAft>
            </a:pPr>
            <a:r>
              <a:rPr sz="1300" b="0" i="0">
                <a:solidFill>
                  <a:srgbClr val="4A5563"/>
                </a:solidFill>
                <a:latin typeface="Calibri"/>
              </a:rPr>
              <a:t>•  test set stays unseen</a:t>
            </a:r>
          </a:p>
        </p:txBody>
      </p:sp>
      <p:pic>
        <p:nvPicPr>
          <p:cNvPr id="16" name="Picture 15" descr="chevron-right_8A919C.png"/>
          <p:cNvPicPr>
            <a:picLocks noChangeAspect="1"/>
          </p:cNvPicPr>
          <p:nvPr/>
        </p:nvPicPr>
        <p:blipFill>
          <a:blip r:embed="rId4"/>
          <a:stretch>
            <a:fillRect/>
          </a:stretch>
        </p:blipFill>
        <p:spPr>
          <a:xfrm>
            <a:off x="5971031" y="2761488"/>
            <a:ext cx="182880" cy="182880"/>
          </a:xfrm>
          <a:prstGeom prst="rect">
            <a:avLst/>
          </a:prstGeom>
        </p:spPr>
      </p:pic>
      <p:sp>
        <p:nvSpPr>
          <p:cNvPr id="17" name="Rounded Rectangle 16"/>
          <p:cNvSpPr/>
          <p:nvPr/>
        </p:nvSpPr>
        <p:spPr>
          <a:xfrm>
            <a:off x="6163055" y="1325880"/>
            <a:ext cx="2606040" cy="306324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45936" y="1481328"/>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lter_1E2228.png"/>
          <p:cNvPicPr>
            <a:picLocks noChangeAspect="1"/>
          </p:cNvPicPr>
          <p:nvPr/>
        </p:nvPicPr>
        <p:blipFill>
          <a:blip r:embed="rId6"/>
          <a:stretch>
            <a:fillRect/>
          </a:stretch>
        </p:blipFill>
        <p:spPr>
          <a:xfrm>
            <a:off x="6466636" y="1602028"/>
            <a:ext cx="261518" cy="261518"/>
          </a:xfrm>
          <a:prstGeom prst="rect">
            <a:avLst/>
          </a:prstGeom>
        </p:spPr>
      </p:pic>
      <p:sp>
        <p:nvSpPr>
          <p:cNvPr id="20" name="TextBox 19"/>
          <p:cNvSpPr txBox="1"/>
          <p:nvPr/>
        </p:nvSpPr>
        <p:spPr>
          <a:xfrm>
            <a:off x="6986016" y="1481328"/>
            <a:ext cx="1691640" cy="502920"/>
          </a:xfrm>
          <a:prstGeom prst="rect">
            <a:avLst/>
          </a:prstGeom>
          <a:noFill/>
        </p:spPr>
        <p:txBody>
          <a:bodyPr wrap="square" lIns="0" tIns="0" rIns="0" bIns="0" anchor="ctr">
            <a:spAutoFit/>
          </a:bodyPr>
          <a:lstStyle/>
          <a:p>
            <a:pPr algn="l">
              <a:spcAft>
                <a:spcPts val="0"/>
              </a:spcAft>
            </a:pPr>
            <a:r>
              <a:rPr sz="1600" b="1" i="0">
                <a:solidFill>
                  <a:srgbClr val="1E2228"/>
                </a:solidFill>
                <a:latin typeface="Calibri"/>
              </a:rPr>
              <a:t>Select</a:t>
            </a:r>
          </a:p>
        </p:txBody>
      </p:sp>
      <p:sp>
        <p:nvSpPr>
          <p:cNvPr id="21" name="TextBox 20"/>
          <p:cNvSpPr txBox="1"/>
          <p:nvPr/>
        </p:nvSpPr>
        <p:spPr>
          <a:xfrm>
            <a:off x="6345936" y="2148840"/>
            <a:ext cx="2331720" cy="2651760"/>
          </a:xfrm>
          <a:prstGeom prst="rect">
            <a:avLst/>
          </a:prstGeom>
          <a:noFill/>
        </p:spPr>
        <p:txBody>
          <a:bodyPr wrap="square" lIns="0" tIns="0" rIns="0" bIns="0" anchor="t">
            <a:spAutoFit/>
          </a:bodyPr>
          <a:lstStyle/>
          <a:p>
            <a:pPr algn="l">
              <a:spcAft>
                <a:spcPts val="400"/>
              </a:spcAft>
            </a:pPr>
            <a:r>
              <a:rPr sz="1300" b="0" i="0">
                <a:solidFill>
                  <a:srgbClr val="4A5563"/>
                </a:solidFill>
                <a:latin typeface="Calibri"/>
              </a:rPr>
              <a:t>•  drop 3 near-constant (&lt; 0.1%)</a:t>
            </a:r>
          </a:p>
          <a:p>
            <a:pPr algn="l">
              <a:spcAft>
                <a:spcPts val="400"/>
              </a:spcAft>
            </a:pPr>
            <a:r>
              <a:rPr sz="1300" b="0" i="0">
                <a:solidFill>
                  <a:srgbClr val="4A5563"/>
                </a:solidFill>
                <a:latin typeface="Calibri"/>
              </a:rPr>
              <a:t>•  drop 2 repeated (|r| &gt; 0.85)</a:t>
            </a:r>
          </a:p>
          <a:p>
            <a:pPr algn="l">
              <a:spcAft>
                <a:spcPts val="400"/>
              </a:spcAft>
            </a:pPr>
            <a:r>
              <a:rPr sz="1300" b="0" i="0">
                <a:solidFill>
                  <a:srgbClr val="4A5563"/>
                </a:solidFill>
                <a:latin typeface="Calibri"/>
              </a:rPr>
              <a:t>•  rank by mutual information</a:t>
            </a:r>
          </a:p>
        </p:txBody>
      </p:sp>
      <p:pic>
        <p:nvPicPr>
          <p:cNvPr id="22" name="Picture 21" descr="chevron-right_8A919C.png"/>
          <p:cNvPicPr>
            <a:picLocks noChangeAspect="1"/>
          </p:cNvPicPr>
          <p:nvPr/>
        </p:nvPicPr>
        <p:blipFill>
          <a:blip r:embed="rId4"/>
          <a:stretch>
            <a:fillRect/>
          </a:stretch>
        </p:blipFill>
        <p:spPr>
          <a:xfrm>
            <a:off x="8778240" y="2761488"/>
            <a:ext cx="182880" cy="182880"/>
          </a:xfrm>
          <a:prstGeom prst="rect">
            <a:avLst/>
          </a:prstGeom>
        </p:spPr>
      </p:pic>
      <p:sp>
        <p:nvSpPr>
          <p:cNvPr id="23" name="Rounded Rectangle 22"/>
          <p:cNvSpPr/>
          <p:nvPr/>
        </p:nvSpPr>
        <p:spPr>
          <a:xfrm>
            <a:off x="8970263" y="1325880"/>
            <a:ext cx="2606040" cy="3063240"/>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53143" y="1481328"/>
            <a:ext cx="502920" cy="5029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gears_1E2228.png"/>
          <p:cNvPicPr>
            <a:picLocks noChangeAspect="1"/>
          </p:cNvPicPr>
          <p:nvPr/>
        </p:nvPicPr>
        <p:blipFill>
          <a:blip r:embed="rId7"/>
          <a:stretch>
            <a:fillRect/>
          </a:stretch>
        </p:blipFill>
        <p:spPr>
          <a:xfrm>
            <a:off x="9273844" y="1602028"/>
            <a:ext cx="261518" cy="261518"/>
          </a:xfrm>
          <a:prstGeom prst="rect">
            <a:avLst/>
          </a:prstGeom>
        </p:spPr>
      </p:pic>
      <p:sp>
        <p:nvSpPr>
          <p:cNvPr id="26" name="TextBox 25"/>
          <p:cNvSpPr txBox="1"/>
          <p:nvPr/>
        </p:nvSpPr>
        <p:spPr>
          <a:xfrm>
            <a:off x="9793224" y="1481328"/>
            <a:ext cx="1691640" cy="502920"/>
          </a:xfrm>
          <a:prstGeom prst="rect">
            <a:avLst/>
          </a:prstGeom>
          <a:noFill/>
        </p:spPr>
        <p:txBody>
          <a:bodyPr wrap="square" lIns="0" tIns="0" rIns="0" bIns="0" anchor="ctr">
            <a:spAutoFit/>
          </a:bodyPr>
          <a:lstStyle/>
          <a:p>
            <a:pPr algn="l">
              <a:spcAft>
                <a:spcPts val="0"/>
              </a:spcAft>
            </a:pPr>
            <a:r>
              <a:rPr sz="1600" b="1" i="0">
                <a:solidFill>
                  <a:srgbClr val="1E2228"/>
                </a:solidFill>
                <a:latin typeface="Calibri"/>
              </a:rPr>
              <a:t>Encode &amp; scale</a:t>
            </a:r>
          </a:p>
        </p:txBody>
      </p:sp>
      <p:sp>
        <p:nvSpPr>
          <p:cNvPr id="27" name="TextBox 26"/>
          <p:cNvSpPr txBox="1"/>
          <p:nvPr/>
        </p:nvSpPr>
        <p:spPr>
          <a:xfrm>
            <a:off x="9153143" y="2148840"/>
            <a:ext cx="2331720" cy="2651760"/>
          </a:xfrm>
          <a:prstGeom prst="rect">
            <a:avLst/>
          </a:prstGeom>
          <a:noFill/>
        </p:spPr>
        <p:txBody>
          <a:bodyPr wrap="square" lIns="0" tIns="0" rIns="0" bIns="0" anchor="t">
            <a:spAutoFit/>
          </a:bodyPr>
          <a:lstStyle/>
          <a:p>
            <a:pPr algn="l">
              <a:spcAft>
                <a:spcPts val="400"/>
              </a:spcAft>
            </a:pPr>
            <a:r>
              <a:rPr sz="1300" b="0" i="0">
                <a:solidFill>
                  <a:srgbClr val="4A5563"/>
                </a:solidFill>
                <a:latin typeface="Calibri"/>
              </a:rPr>
              <a:t>•  median filling</a:t>
            </a:r>
          </a:p>
          <a:p>
            <a:pPr algn="l">
              <a:spcAft>
                <a:spcPts val="400"/>
              </a:spcAft>
            </a:pPr>
            <a:r>
              <a:rPr sz="1300" b="0" i="0">
                <a:solidFill>
                  <a:srgbClr val="4A5563"/>
                </a:solidFill>
                <a:latin typeface="Calibri"/>
              </a:rPr>
              <a:t>•  one-hot: State, Source, …</a:t>
            </a:r>
          </a:p>
          <a:p>
            <a:pPr algn="l">
              <a:spcAft>
                <a:spcPts val="400"/>
              </a:spcAft>
            </a:pPr>
            <a:r>
              <a:rPr sz="1300" b="0" i="0">
                <a:solidFill>
                  <a:srgbClr val="4A5563"/>
                </a:solidFill>
                <a:latin typeface="Calibri"/>
              </a:rPr>
              <a:t>•  frequency: City, County</a:t>
            </a:r>
          </a:p>
          <a:p>
            <a:pPr algn="l">
              <a:spcAft>
                <a:spcPts val="400"/>
              </a:spcAft>
            </a:pPr>
            <a:r>
              <a:rPr sz="1300" b="0" i="0">
                <a:solidFill>
                  <a:srgbClr val="4A5563"/>
                </a:solidFill>
                <a:latin typeface="Calibri"/>
              </a:rPr>
              <a:t>•  50 K-means location regions</a:t>
            </a:r>
          </a:p>
          <a:p>
            <a:pPr algn="l">
              <a:spcAft>
                <a:spcPts val="400"/>
              </a:spcAft>
            </a:pPr>
            <a:r>
              <a:rPr sz="1300" b="0" i="0">
                <a:solidFill>
                  <a:srgbClr val="4A5563"/>
                </a:solidFill>
                <a:latin typeface="Calibri"/>
              </a:rPr>
              <a:t>•  standard scaling</a:t>
            </a:r>
          </a:p>
        </p:txBody>
      </p:sp>
      <p:sp>
        <p:nvSpPr>
          <p:cNvPr id="28" name="TextBox 27"/>
          <p:cNvSpPr txBox="1"/>
          <p:nvPr/>
        </p:nvSpPr>
        <p:spPr>
          <a:xfrm>
            <a:off x="548640" y="4709160"/>
            <a:ext cx="2606040" cy="54864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36</a:t>
            </a:r>
          </a:p>
        </p:txBody>
      </p:sp>
      <p:sp>
        <p:nvSpPr>
          <p:cNvPr id="29" name="TextBox 28"/>
          <p:cNvSpPr txBox="1"/>
          <p:nvPr/>
        </p:nvSpPr>
        <p:spPr>
          <a:xfrm>
            <a:off x="548640" y="5303520"/>
            <a:ext cx="2606040" cy="36576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final inputs</a:t>
            </a:r>
          </a:p>
        </p:txBody>
      </p:sp>
      <p:sp>
        <p:nvSpPr>
          <p:cNvPr id="30" name="TextBox 29"/>
          <p:cNvSpPr txBox="1"/>
          <p:nvPr/>
        </p:nvSpPr>
        <p:spPr>
          <a:xfrm>
            <a:off x="3355848" y="4709160"/>
            <a:ext cx="2606040" cy="54864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165</a:t>
            </a:r>
          </a:p>
        </p:txBody>
      </p:sp>
      <p:sp>
        <p:nvSpPr>
          <p:cNvPr id="31" name="TextBox 30"/>
          <p:cNvSpPr txBox="1"/>
          <p:nvPr/>
        </p:nvSpPr>
        <p:spPr>
          <a:xfrm>
            <a:off x="3355848" y="5303520"/>
            <a:ext cx="2606040" cy="36576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model columns after encoding</a:t>
            </a:r>
          </a:p>
        </p:txBody>
      </p:sp>
      <p:sp>
        <p:nvSpPr>
          <p:cNvPr id="32" name="TextBox 31"/>
          <p:cNvSpPr txBox="1"/>
          <p:nvPr/>
        </p:nvSpPr>
        <p:spPr>
          <a:xfrm>
            <a:off x="6163055" y="4709160"/>
            <a:ext cx="2606040" cy="54864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0</a:t>
            </a:r>
          </a:p>
        </p:txBody>
      </p:sp>
      <p:sp>
        <p:nvSpPr>
          <p:cNvPr id="33" name="TextBox 32"/>
          <p:cNvSpPr txBox="1"/>
          <p:nvPr/>
        </p:nvSpPr>
        <p:spPr>
          <a:xfrm>
            <a:off x="6163055" y="5303520"/>
            <a:ext cx="2606040" cy="36576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missing values left</a:t>
            </a:r>
          </a:p>
        </p:txBody>
      </p:sp>
      <p:sp>
        <p:nvSpPr>
          <p:cNvPr id="34" name="TextBox 33"/>
          <p:cNvSpPr txBox="1"/>
          <p:nvPr/>
        </p:nvSpPr>
        <p:spPr>
          <a:xfrm>
            <a:off x="8970263" y="4709160"/>
            <a:ext cx="2606040" cy="548640"/>
          </a:xfrm>
          <a:prstGeom prst="rect">
            <a:avLst/>
          </a:prstGeom>
          <a:noFill/>
        </p:spPr>
        <p:txBody>
          <a:bodyPr wrap="square" lIns="0" tIns="0" rIns="0" bIns="0" anchor="t">
            <a:spAutoFit/>
          </a:bodyPr>
          <a:lstStyle/>
          <a:p>
            <a:pPr algn="l">
              <a:spcAft>
                <a:spcPts val="0"/>
              </a:spcAft>
            </a:pPr>
            <a:r>
              <a:rPr sz="3200" b="1" i="0">
                <a:solidFill>
                  <a:srgbClr val="C62828"/>
                </a:solidFill>
                <a:latin typeface="Cambria"/>
              </a:rPr>
              <a:t>399</a:t>
            </a:r>
          </a:p>
        </p:txBody>
      </p:sp>
      <p:sp>
        <p:nvSpPr>
          <p:cNvPr id="35" name="TextBox 34"/>
          <p:cNvSpPr txBox="1"/>
          <p:nvPr/>
        </p:nvSpPr>
        <p:spPr>
          <a:xfrm>
            <a:off x="8970263" y="5303520"/>
            <a:ext cx="2606040" cy="365760"/>
          </a:xfrm>
          <a:prstGeom prst="rect">
            <a:avLst/>
          </a:prstGeom>
          <a:noFill/>
        </p:spPr>
        <p:txBody>
          <a:bodyPr wrap="square" lIns="0" tIns="0" rIns="0" bIns="0" anchor="t">
            <a:spAutoFit/>
          </a:bodyPr>
          <a:lstStyle/>
          <a:p>
            <a:pPr algn="l">
              <a:spcAft>
                <a:spcPts val="0"/>
              </a:spcAft>
            </a:pPr>
            <a:r>
              <a:rPr sz="1300" b="0" i="0">
                <a:solidFill>
                  <a:srgbClr val="4A5563"/>
                </a:solidFill>
                <a:latin typeface="Calibri"/>
              </a:rPr>
              <a:t>unseen test cities → frequency 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Answers to our research questions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11</a:t>
            </a:r>
          </a:p>
        </p:txBody>
      </p:sp>
      <p:sp>
        <p:nvSpPr>
          <p:cNvPr id="5" name="Rounded Rectangle 4"/>
          <p:cNvSpPr/>
          <p:nvPr/>
        </p:nvSpPr>
        <p:spPr>
          <a:xfrm>
            <a:off x="548640" y="1280160"/>
            <a:ext cx="11091672" cy="749808"/>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408176"/>
            <a:ext cx="521207" cy="521207"/>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lock_1E2228.png"/>
          <p:cNvPicPr>
            <a:picLocks noChangeAspect="1"/>
          </p:cNvPicPr>
          <p:nvPr/>
        </p:nvPicPr>
        <p:blipFill>
          <a:blip r:embed="rId3"/>
          <a:stretch>
            <a:fillRect/>
          </a:stretch>
        </p:blipFill>
        <p:spPr>
          <a:xfrm>
            <a:off x="856609" y="1533265"/>
            <a:ext cx="271028" cy="271028"/>
          </a:xfrm>
          <a:prstGeom prst="rect">
            <a:avLst/>
          </a:prstGeom>
        </p:spPr>
      </p:pic>
      <p:sp>
        <p:nvSpPr>
          <p:cNvPr id="8" name="TextBox 7"/>
          <p:cNvSpPr txBox="1"/>
          <p:nvPr/>
        </p:nvSpPr>
        <p:spPr>
          <a:xfrm>
            <a:off x="1417319" y="1389888"/>
            <a:ext cx="2286000" cy="54864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RQ1 · Time</a:t>
            </a:r>
          </a:p>
        </p:txBody>
      </p:sp>
      <p:sp>
        <p:nvSpPr>
          <p:cNvPr id="9" name="Rounded Rectangle 8"/>
          <p:cNvSpPr/>
          <p:nvPr/>
        </p:nvSpPr>
        <p:spPr>
          <a:xfrm>
            <a:off x="3291840" y="1472184"/>
            <a:ext cx="1005840" cy="393192"/>
          </a:xfrm>
          <a:prstGeom prst="roundRect">
            <a:avLst>
              <a:gd name="adj" fmla="val 50000"/>
            </a:avLst>
          </a:prstGeom>
          <a:solidFill>
            <a:srgbClr val="8A9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840" y="1472184"/>
            <a:ext cx="1005840" cy="393192"/>
          </a:xfrm>
          <a:prstGeom prst="rect">
            <a:avLst/>
          </a:prstGeom>
          <a:noFill/>
        </p:spPr>
        <p:txBody>
          <a:bodyPr wrap="square" lIns="0" tIns="0" rIns="0" bIns="0" anchor="ctr">
            <a:spAutoFit/>
          </a:bodyPr>
          <a:lstStyle/>
          <a:p>
            <a:pPr algn="ctr">
              <a:spcAft>
                <a:spcPts val="0"/>
              </a:spcAft>
            </a:pPr>
            <a:r>
              <a:rPr sz="1200" b="1" i="0">
                <a:solidFill>
                  <a:srgbClr val="FFFFFF"/>
                </a:solidFill>
                <a:latin typeface="Calibri"/>
              </a:rPr>
              <a:t>WEAK</a:t>
            </a:r>
          </a:p>
        </p:txBody>
      </p:sp>
      <p:sp>
        <p:nvSpPr>
          <p:cNvPr id="11" name="TextBox 10"/>
          <p:cNvSpPr txBox="1"/>
          <p:nvPr/>
        </p:nvSpPr>
        <p:spPr>
          <a:xfrm>
            <a:off x="4572000" y="1389888"/>
            <a:ext cx="6858000" cy="548640"/>
          </a:xfrm>
          <a:prstGeom prst="rect">
            <a:avLst/>
          </a:prstGeom>
          <a:noFill/>
        </p:spPr>
        <p:txBody>
          <a:bodyPr wrap="square" lIns="0" tIns="0" rIns="0" bIns="0" anchor="ctr">
            <a:spAutoFit/>
          </a:bodyPr>
          <a:lstStyle/>
          <a:p>
            <a:pPr algn="l">
              <a:spcAft>
                <a:spcPts val="0"/>
              </a:spcAft>
            </a:pPr>
            <a:r>
              <a:rPr sz="1400" b="0" i="0">
                <a:solidFill>
                  <a:srgbClr val="1E2228"/>
                </a:solidFill>
                <a:latin typeface="Calibri"/>
              </a:rPr>
              <a:t>Worst accidents at night: Severity 4 3.5% vs 2.2% by day (V = 0.05)</a:t>
            </a:r>
          </a:p>
        </p:txBody>
      </p:sp>
      <p:sp>
        <p:nvSpPr>
          <p:cNvPr id="12" name="Rounded Rectangle 11"/>
          <p:cNvSpPr/>
          <p:nvPr/>
        </p:nvSpPr>
        <p:spPr>
          <a:xfrm>
            <a:off x="548640" y="2148839"/>
            <a:ext cx="11091672" cy="749808"/>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31520" y="2276856"/>
            <a:ext cx="521207" cy="521207"/>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cloud-rain_1E2228.png"/>
          <p:cNvPicPr>
            <a:picLocks noChangeAspect="1"/>
          </p:cNvPicPr>
          <p:nvPr/>
        </p:nvPicPr>
        <p:blipFill>
          <a:blip r:embed="rId4"/>
          <a:stretch>
            <a:fillRect/>
          </a:stretch>
        </p:blipFill>
        <p:spPr>
          <a:xfrm>
            <a:off x="856609" y="2401945"/>
            <a:ext cx="271028" cy="271028"/>
          </a:xfrm>
          <a:prstGeom prst="rect">
            <a:avLst/>
          </a:prstGeom>
        </p:spPr>
      </p:pic>
      <p:sp>
        <p:nvSpPr>
          <p:cNvPr id="15" name="TextBox 14"/>
          <p:cNvSpPr txBox="1"/>
          <p:nvPr/>
        </p:nvSpPr>
        <p:spPr>
          <a:xfrm>
            <a:off x="1417319" y="2258568"/>
            <a:ext cx="2286000" cy="54864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RQ2 · Weather</a:t>
            </a:r>
          </a:p>
        </p:txBody>
      </p:sp>
      <p:sp>
        <p:nvSpPr>
          <p:cNvPr id="16" name="Rounded Rectangle 15"/>
          <p:cNvSpPr/>
          <p:nvPr/>
        </p:nvSpPr>
        <p:spPr>
          <a:xfrm>
            <a:off x="3291840" y="2340863"/>
            <a:ext cx="1005840" cy="393192"/>
          </a:xfrm>
          <a:prstGeom prst="roundRect">
            <a:avLst>
              <a:gd name="adj" fmla="val 50000"/>
            </a:avLst>
          </a:prstGeom>
          <a:solidFill>
            <a:srgbClr val="8A91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2340863"/>
            <a:ext cx="1005840" cy="393192"/>
          </a:xfrm>
          <a:prstGeom prst="rect">
            <a:avLst/>
          </a:prstGeom>
          <a:noFill/>
        </p:spPr>
        <p:txBody>
          <a:bodyPr wrap="square" lIns="0" tIns="0" rIns="0" bIns="0" anchor="ctr">
            <a:spAutoFit/>
          </a:bodyPr>
          <a:lstStyle/>
          <a:p>
            <a:pPr algn="ctr">
              <a:spcAft>
                <a:spcPts val="0"/>
              </a:spcAft>
            </a:pPr>
            <a:r>
              <a:rPr sz="1200" b="1" i="0">
                <a:solidFill>
                  <a:srgbClr val="FFFFFF"/>
                </a:solidFill>
                <a:latin typeface="Calibri"/>
              </a:rPr>
              <a:t>WEAK</a:t>
            </a:r>
          </a:p>
        </p:txBody>
      </p:sp>
      <p:sp>
        <p:nvSpPr>
          <p:cNvPr id="18" name="TextBox 17"/>
          <p:cNvSpPr txBox="1"/>
          <p:nvPr/>
        </p:nvSpPr>
        <p:spPr>
          <a:xfrm>
            <a:off x="4572000" y="2258568"/>
            <a:ext cx="6858000" cy="548640"/>
          </a:xfrm>
          <a:prstGeom prst="rect">
            <a:avLst/>
          </a:prstGeom>
          <a:noFill/>
        </p:spPr>
        <p:txBody>
          <a:bodyPr wrap="square" lIns="0" tIns="0" rIns="0" bIns="0" anchor="ctr">
            <a:spAutoFit/>
          </a:bodyPr>
          <a:lstStyle/>
          <a:p>
            <a:pPr algn="l">
              <a:spcAft>
                <a:spcPts val="0"/>
              </a:spcAft>
            </a:pPr>
            <a:r>
              <a:rPr sz="1400" b="0" i="0">
                <a:solidFill>
                  <a:srgbClr val="1E2228"/>
                </a:solidFill>
                <a:latin typeface="Calibri"/>
              </a:rPr>
              <a:t>Rain and storms: 22% high-impact vs 17% in clear weather (V = 0.04)</a:t>
            </a:r>
          </a:p>
        </p:txBody>
      </p:sp>
      <p:sp>
        <p:nvSpPr>
          <p:cNvPr id="19" name="Rounded Rectangle 18"/>
          <p:cNvSpPr/>
          <p:nvPr/>
        </p:nvSpPr>
        <p:spPr>
          <a:xfrm>
            <a:off x="548640" y="3017520"/>
            <a:ext cx="11091672" cy="749808"/>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3145536"/>
            <a:ext cx="521207" cy="521207"/>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road_1E2228.png"/>
          <p:cNvPicPr>
            <a:picLocks noChangeAspect="1"/>
          </p:cNvPicPr>
          <p:nvPr/>
        </p:nvPicPr>
        <p:blipFill>
          <a:blip r:embed="rId5"/>
          <a:stretch>
            <a:fillRect/>
          </a:stretch>
        </p:blipFill>
        <p:spPr>
          <a:xfrm>
            <a:off x="856609" y="3270625"/>
            <a:ext cx="271028" cy="271028"/>
          </a:xfrm>
          <a:prstGeom prst="rect">
            <a:avLst/>
          </a:prstGeom>
        </p:spPr>
      </p:pic>
      <p:sp>
        <p:nvSpPr>
          <p:cNvPr id="22" name="TextBox 21"/>
          <p:cNvSpPr txBox="1"/>
          <p:nvPr/>
        </p:nvSpPr>
        <p:spPr>
          <a:xfrm>
            <a:off x="1417319" y="3127248"/>
            <a:ext cx="2286000" cy="54864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RQ3 · Road</a:t>
            </a:r>
          </a:p>
        </p:txBody>
      </p:sp>
      <p:sp>
        <p:nvSpPr>
          <p:cNvPr id="23" name="Rounded Rectangle 22"/>
          <p:cNvSpPr/>
          <p:nvPr/>
        </p:nvSpPr>
        <p:spPr>
          <a:xfrm>
            <a:off x="3291840" y="3209544"/>
            <a:ext cx="1005840" cy="393192"/>
          </a:xfrm>
          <a:prstGeom prst="roundRect">
            <a:avLst>
              <a:gd name="adj" fmla="val 50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0" y="3209544"/>
            <a:ext cx="1005840" cy="393192"/>
          </a:xfrm>
          <a:prstGeom prst="rect">
            <a:avLst/>
          </a:prstGeom>
          <a:noFill/>
        </p:spPr>
        <p:txBody>
          <a:bodyPr wrap="square" lIns="0" tIns="0" rIns="0" bIns="0" anchor="ctr">
            <a:spAutoFit/>
          </a:bodyPr>
          <a:lstStyle/>
          <a:p>
            <a:pPr algn="ctr">
              <a:spcAft>
                <a:spcPts val="0"/>
              </a:spcAft>
            </a:pPr>
            <a:r>
              <a:rPr sz="1200" b="1" i="0">
                <a:solidFill>
                  <a:srgbClr val="FFFFFF"/>
                </a:solidFill>
                <a:latin typeface="Calibri"/>
              </a:rPr>
              <a:t>CLEAR</a:t>
            </a:r>
          </a:p>
        </p:txBody>
      </p:sp>
      <p:sp>
        <p:nvSpPr>
          <p:cNvPr id="25" name="TextBox 24"/>
          <p:cNvSpPr txBox="1"/>
          <p:nvPr/>
        </p:nvSpPr>
        <p:spPr>
          <a:xfrm>
            <a:off x="4572000" y="3127248"/>
            <a:ext cx="6858000" cy="548640"/>
          </a:xfrm>
          <a:prstGeom prst="rect">
            <a:avLst/>
          </a:prstGeom>
          <a:noFill/>
        </p:spPr>
        <p:txBody>
          <a:bodyPr wrap="square" lIns="0" tIns="0" rIns="0" bIns="0" anchor="ctr">
            <a:spAutoFit/>
          </a:bodyPr>
          <a:lstStyle/>
          <a:p>
            <a:pPr algn="l">
              <a:spcAft>
                <a:spcPts val="0"/>
              </a:spcAft>
            </a:pPr>
            <a:r>
              <a:rPr sz="1400" b="0" i="0">
                <a:solidFill>
                  <a:srgbClr val="1E2228"/>
                </a:solidFill>
                <a:latin typeface="Calibri"/>
              </a:rPr>
              <a:t>Highway 28% high-impact vs 11% elsewhere; signals only 6–10% (V = 0.12)</a:t>
            </a:r>
          </a:p>
        </p:txBody>
      </p:sp>
      <p:sp>
        <p:nvSpPr>
          <p:cNvPr id="26" name="Rounded Rectangle 25"/>
          <p:cNvSpPr/>
          <p:nvPr/>
        </p:nvSpPr>
        <p:spPr>
          <a:xfrm>
            <a:off x="548640" y="3886200"/>
            <a:ext cx="11091672" cy="749808"/>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31520" y="4014215"/>
            <a:ext cx="521207" cy="521207"/>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database_1E2228.png"/>
          <p:cNvPicPr>
            <a:picLocks noChangeAspect="1"/>
          </p:cNvPicPr>
          <p:nvPr/>
        </p:nvPicPr>
        <p:blipFill>
          <a:blip r:embed="rId6"/>
          <a:stretch>
            <a:fillRect/>
          </a:stretch>
        </p:blipFill>
        <p:spPr>
          <a:xfrm>
            <a:off x="856609" y="4139305"/>
            <a:ext cx="271028" cy="271028"/>
          </a:xfrm>
          <a:prstGeom prst="rect">
            <a:avLst/>
          </a:prstGeom>
        </p:spPr>
      </p:pic>
      <p:sp>
        <p:nvSpPr>
          <p:cNvPr id="29" name="TextBox 28"/>
          <p:cNvSpPr txBox="1"/>
          <p:nvPr/>
        </p:nvSpPr>
        <p:spPr>
          <a:xfrm>
            <a:off x="1417319" y="3995928"/>
            <a:ext cx="2286000" cy="54864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RQ4 · Consistency</a:t>
            </a:r>
          </a:p>
        </p:txBody>
      </p:sp>
      <p:sp>
        <p:nvSpPr>
          <p:cNvPr id="30" name="Rounded Rectangle 29"/>
          <p:cNvSpPr/>
          <p:nvPr/>
        </p:nvSpPr>
        <p:spPr>
          <a:xfrm>
            <a:off x="3291840" y="4078224"/>
            <a:ext cx="1005840" cy="393192"/>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0" y="4078224"/>
            <a:ext cx="1005840" cy="393192"/>
          </a:xfrm>
          <a:prstGeom prst="rect">
            <a:avLst/>
          </a:prstGeom>
          <a:noFill/>
        </p:spPr>
        <p:txBody>
          <a:bodyPr wrap="square" lIns="0" tIns="0" rIns="0" bIns="0" anchor="ctr">
            <a:spAutoFit/>
          </a:bodyPr>
          <a:lstStyle/>
          <a:p>
            <a:pPr algn="ctr">
              <a:spcAft>
                <a:spcPts val="0"/>
              </a:spcAft>
            </a:pPr>
            <a:r>
              <a:rPr sz="1200" b="1" i="0">
                <a:solidFill>
                  <a:srgbClr val="FFFFFF"/>
                </a:solidFill>
                <a:latin typeface="Calibri"/>
              </a:rPr>
              <a:t>NO</a:t>
            </a:r>
          </a:p>
        </p:txBody>
      </p:sp>
      <p:sp>
        <p:nvSpPr>
          <p:cNvPr id="32" name="TextBox 31"/>
          <p:cNvSpPr txBox="1"/>
          <p:nvPr/>
        </p:nvSpPr>
        <p:spPr>
          <a:xfrm>
            <a:off x="4572000" y="3995928"/>
            <a:ext cx="6858000" cy="548640"/>
          </a:xfrm>
          <a:prstGeom prst="rect">
            <a:avLst/>
          </a:prstGeom>
          <a:noFill/>
        </p:spPr>
        <p:txBody>
          <a:bodyPr wrap="square" lIns="0" tIns="0" rIns="0" bIns="0" anchor="ctr">
            <a:spAutoFit/>
          </a:bodyPr>
          <a:lstStyle/>
          <a:p>
            <a:pPr algn="l">
              <a:spcAft>
                <a:spcPts val="0"/>
              </a:spcAft>
            </a:pPr>
            <a:r>
              <a:rPr sz="1400" b="0" i="0">
                <a:solidFill>
                  <a:srgbClr val="1E2228"/>
                </a:solidFill>
                <a:latin typeface="Calibri"/>
              </a:rPr>
              <a:t>Providers label very differently (V = 0.29, the strongest link)</a:t>
            </a:r>
          </a:p>
        </p:txBody>
      </p:sp>
      <p:sp>
        <p:nvSpPr>
          <p:cNvPr id="33" name="Rounded Rectangle 32"/>
          <p:cNvSpPr/>
          <p:nvPr/>
        </p:nvSpPr>
        <p:spPr>
          <a:xfrm>
            <a:off x="548640" y="4754879"/>
            <a:ext cx="11091672" cy="749808"/>
          </a:xfrm>
          <a:prstGeom prst="roundRect">
            <a:avLst>
              <a:gd name="adj" fmla="val 6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31520" y="4882895"/>
            <a:ext cx="521207" cy="521207"/>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list-ul_1E2228.png"/>
          <p:cNvPicPr>
            <a:picLocks noChangeAspect="1"/>
          </p:cNvPicPr>
          <p:nvPr/>
        </p:nvPicPr>
        <p:blipFill>
          <a:blip r:embed="rId7"/>
          <a:stretch>
            <a:fillRect/>
          </a:stretch>
        </p:blipFill>
        <p:spPr>
          <a:xfrm>
            <a:off x="856609" y="5007985"/>
            <a:ext cx="271028" cy="271028"/>
          </a:xfrm>
          <a:prstGeom prst="rect">
            <a:avLst/>
          </a:prstGeom>
        </p:spPr>
      </p:pic>
      <p:sp>
        <p:nvSpPr>
          <p:cNvPr id="36" name="TextBox 35"/>
          <p:cNvSpPr txBox="1"/>
          <p:nvPr/>
        </p:nvSpPr>
        <p:spPr>
          <a:xfrm>
            <a:off x="1417319" y="4864607"/>
            <a:ext cx="2286000" cy="548640"/>
          </a:xfrm>
          <a:prstGeom prst="rect">
            <a:avLst/>
          </a:prstGeom>
          <a:noFill/>
        </p:spPr>
        <p:txBody>
          <a:bodyPr wrap="square" lIns="0" tIns="0" rIns="0" bIns="0" anchor="ctr">
            <a:spAutoFit/>
          </a:bodyPr>
          <a:lstStyle/>
          <a:p>
            <a:pPr algn="l">
              <a:spcAft>
                <a:spcPts val="0"/>
              </a:spcAft>
            </a:pPr>
            <a:r>
              <a:rPr sz="1500" b="1" i="0">
                <a:solidFill>
                  <a:srgbClr val="1E2228"/>
                </a:solidFill>
                <a:latin typeface="Calibri"/>
              </a:rPr>
              <a:t>RQ5 · Features</a:t>
            </a:r>
          </a:p>
        </p:txBody>
      </p:sp>
      <p:sp>
        <p:nvSpPr>
          <p:cNvPr id="37" name="Rounded Rectangle 36"/>
          <p:cNvSpPr/>
          <p:nvPr/>
        </p:nvSpPr>
        <p:spPr>
          <a:xfrm>
            <a:off x="3291840" y="4946903"/>
            <a:ext cx="1005840" cy="393192"/>
          </a:xfrm>
          <a:prstGeom prst="roundRect">
            <a:avLst>
              <a:gd name="adj" fmla="val 50000"/>
            </a:avLst>
          </a:prstGeom>
          <a:solidFill>
            <a:srgbClr val="3B7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91840" y="4946903"/>
            <a:ext cx="1005840" cy="393192"/>
          </a:xfrm>
          <a:prstGeom prst="rect">
            <a:avLst/>
          </a:prstGeom>
          <a:noFill/>
        </p:spPr>
        <p:txBody>
          <a:bodyPr wrap="square" lIns="0" tIns="0" rIns="0" bIns="0" anchor="ctr">
            <a:spAutoFit/>
          </a:bodyPr>
          <a:lstStyle/>
          <a:p>
            <a:pPr algn="ctr">
              <a:spcAft>
                <a:spcPts val="0"/>
              </a:spcAft>
            </a:pPr>
            <a:r>
              <a:rPr sz="1200" b="1" i="0">
                <a:solidFill>
                  <a:srgbClr val="FFFFFF"/>
                </a:solidFill>
                <a:latin typeface="Calibri"/>
              </a:rPr>
              <a:t>FOUND</a:t>
            </a:r>
          </a:p>
        </p:txBody>
      </p:sp>
      <p:sp>
        <p:nvSpPr>
          <p:cNvPr id="39" name="TextBox 38"/>
          <p:cNvSpPr txBox="1"/>
          <p:nvPr/>
        </p:nvSpPr>
        <p:spPr>
          <a:xfrm>
            <a:off x="4572000" y="4864607"/>
            <a:ext cx="6858000" cy="548640"/>
          </a:xfrm>
          <a:prstGeom prst="rect">
            <a:avLst/>
          </a:prstGeom>
          <a:noFill/>
        </p:spPr>
        <p:txBody>
          <a:bodyPr wrap="square" lIns="0" tIns="0" rIns="0" bIns="0" anchor="ctr">
            <a:spAutoFit/>
          </a:bodyPr>
          <a:lstStyle/>
          <a:p>
            <a:pPr algn="l">
              <a:spcAft>
                <a:spcPts val="0"/>
              </a:spcAft>
            </a:pPr>
            <a:r>
              <a:rPr sz="1400" b="0" i="0">
                <a:solidFill>
                  <a:srgbClr val="1E2228"/>
                </a:solidFill>
                <a:latin typeface="Calibri"/>
              </a:rPr>
              <a:t>Location, provider, year and highway tell us the most; 36 inputs kept</a:t>
            </a:r>
          </a:p>
        </p:txBody>
      </p:sp>
      <p:sp>
        <p:nvSpPr>
          <p:cNvPr id="40" name="TextBox 39"/>
          <p:cNvSpPr txBox="1"/>
          <p:nvPr/>
        </p:nvSpPr>
        <p:spPr>
          <a:xfrm>
            <a:off x="548640" y="5669280"/>
            <a:ext cx="11064240" cy="548640"/>
          </a:xfrm>
          <a:prstGeom prst="rect">
            <a:avLst/>
          </a:prstGeom>
          <a:noFill/>
        </p:spPr>
        <p:txBody>
          <a:bodyPr wrap="square" lIns="0" tIns="0" rIns="0" bIns="0" anchor="t">
            <a:spAutoFit/>
          </a:bodyPr>
          <a:lstStyle/>
          <a:p>
            <a:pPr algn="l">
              <a:spcAft>
                <a:spcPts val="0"/>
              </a:spcAft>
            </a:pPr>
            <a:r>
              <a:rPr sz="1300" b="1" i="0">
                <a:solidFill>
                  <a:srgbClr val="1E2228"/>
                </a:solidFill>
                <a:latin typeface="Calibri"/>
              </a:rPr>
              <a:t>Main message: </a:t>
            </a:r>
            <a:r>
              <a:rPr sz="1300" b="0" i="0">
                <a:solidFill>
                  <a:srgbClr val="1E2228"/>
                </a:solidFill>
                <a:latin typeface="Calibri"/>
              </a:rPr>
              <a:t>severity depends more on where and who reported it than on weather or time. The signal is weak and non-linear, so tree-based models should work best.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822960"/>
          </a:xfrm>
        </p:spPr>
        <p:txBody>
          <a:bodyPr lIns="0" rIns="0" anchor="ctr"/>
          <a:lstStyle/>
          <a:p>
            <a:pPr algn="l"/>
            <a:r>
              <a:rPr sz="3000" b="1" i="0">
                <a:solidFill>
                  <a:srgbClr val="1E2228"/>
                </a:solidFill>
                <a:latin typeface="Cambria"/>
              </a:rPr>
              <a:t>Limitations and next steps</a:t>
            </a:r>
          </a:p>
        </p:txBody>
      </p:sp>
      <p:sp>
        <p:nvSpPr>
          <p:cNvPr id="3" name="TextBox 2"/>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8A919C"/>
                </a:solidFill>
                <a:latin typeface="Calibri"/>
              </a:rPr>
              <a:t>US Accidents Severity · Data Science Midterm</a:t>
            </a:r>
          </a:p>
        </p:txBody>
      </p:sp>
      <p:sp>
        <p:nvSpPr>
          <p:cNvPr id="4" name="TextBox 3"/>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8A919C"/>
                </a:solidFill>
                <a:latin typeface="Calibri"/>
              </a:rPr>
              <a:t>12</a:t>
            </a:r>
          </a:p>
        </p:txBody>
      </p:sp>
      <p:sp>
        <p:nvSpPr>
          <p:cNvPr id="5" name="TextBox 4"/>
          <p:cNvSpPr txBox="1"/>
          <p:nvPr/>
        </p:nvSpPr>
        <p:spPr>
          <a:xfrm>
            <a:off x="548640" y="1325880"/>
            <a:ext cx="5120640" cy="365760"/>
          </a:xfrm>
          <a:prstGeom prst="rect">
            <a:avLst/>
          </a:prstGeom>
          <a:noFill/>
        </p:spPr>
        <p:txBody>
          <a:bodyPr wrap="square" lIns="0" tIns="0" rIns="0" bIns="0" anchor="t">
            <a:spAutoFit/>
          </a:bodyPr>
          <a:lstStyle/>
          <a:p>
            <a:pPr algn="l">
              <a:spcAft>
                <a:spcPts val="0"/>
              </a:spcAft>
            </a:pPr>
            <a:r>
              <a:rPr sz="1800" b="1" i="0">
                <a:solidFill>
                  <a:srgbClr val="1E2228"/>
                </a:solidFill>
                <a:latin typeface="Calibri"/>
              </a:rPr>
              <a:t>Limitations</a:t>
            </a:r>
          </a:p>
        </p:txBody>
      </p:sp>
      <p:sp>
        <p:nvSpPr>
          <p:cNvPr id="6" name="Oval 5"/>
          <p:cNvSpPr/>
          <p:nvPr/>
        </p:nvSpPr>
        <p:spPr>
          <a:xfrm>
            <a:off x="548640" y="1828800"/>
            <a:ext cx="411480" cy="411480"/>
          </a:xfrm>
          <a:prstGeom prst="ellipse">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xclamation_C62828.png"/>
          <p:cNvPicPr>
            <a:picLocks noChangeAspect="1"/>
          </p:cNvPicPr>
          <p:nvPr/>
        </p:nvPicPr>
        <p:blipFill>
          <a:blip r:embed="rId3"/>
          <a:stretch>
            <a:fillRect/>
          </a:stretch>
        </p:blipFill>
        <p:spPr>
          <a:xfrm>
            <a:off x="647395" y="1927555"/>
            <a:ext cx="213969" cy="213969"/>
          </a:xfrm>
          <a:prstGeom prst="rect">
            <a:avLst/>
          </a:prstGeom>
        </p:spPr>
      </p:pic>
      <p:sp>
        <p:nvSpPr>
          <p:cNvPr id="8" name="TextBox 7"/>
          <p:cNvSpPr txBox="1"/>
          <p:nvPr/>
        </p:nvSpPr>
        <p:spPr>
          <a:xfrm>
            <a:off x="1143000" y="1847088"/>
            <a:ext cx="4572000" cy="685800"/>
          </a:xfrm>
          <a:prstGeom prst="rect">
            <a:avLst/>
          </a:prstGeom>
          <a:noFill/>
        </p:spPr>
        <p:txBody>
          <a:bodyPr wrap="square" lIns="0" tIns="0" rIns="0" bIns="0" anchor="t">
            <a:spAutoFit/>
          </a:bodyPr>
          <a:lstStyle/>
          <a:p>
            <a:pPr algn="l">
              <a:spcAft>
                <a:spcPts val="0"/>
              </a:spcAft>
            </a:pPr>
            <a:r>
              <a:rPr sz="1400" b="0" i="0">
                <a:solidFill>
                  <a:srgbClr val="1E2228"/>
                </a:solidFill>
                <a:latin typeface="Calibri"/>
              </a:rPr>
              <a:t>Severity = delay as each provider records it, not injuries</a:t>
            </a:r>
          </a:p>
        </p:txBody>
      </p:sp>
      <p:sp>
        <p:nvSpPr>
          <p:cNvPr id="9" name="Oval 8"/>
          <p:cNvSpPr/>
          <p:nvPr/>
        </p:nvSpPr>
        <p:spPr>
          <a:xfrm>
            <a:off x="548640" y="2606040"/>
            <a:ext cx="411480" cy="411480"/>
          </a:xfrm>
          <a:prstGeom prst="ellipse">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xclamation_C62828.png"/>
          <p:cNvPicPr>
            <a:picLocks noChangeAspect="1"/>
          </p:cNvPicPr>
          <p:nvPr/>
        </p:nvPicPr>
        <p:blipFill>
          <a:blip r:embed="rId3"/>
          <a:stretch>
            <a:fillRect/>
          </a:stretch>
        </p:blipFill>
        <p:spPr>
          <a:xfrm>
            <a:off x="647395" y="2704795"/>
            <a:ext cx="213969" cy="213969"/>
          </a:xfrm>
          <a:prstGeom prst="rect">
            <a:avLst/>
          </a:prstGeom>
        </p:spPr>
      </p:pic>
      <p:sp>
        <p:nvSpPr>
          <p:cNvPr id="11" name="TextBox 10"/>
          <p:cNvSpPr txBox="1"/>
          <p:nvPr/>
        </p:nvSpPr>
        <p:spPr>
          <a:xfrm>
            <a:off x="1143000" y="2624328"/>
            <a:ext cx="4572000" cy="685800"/>
          </a:xfrm>
          <a:prstGeom prst="rect">
            <a:avLst/>
          </a:prstGeom>
          <a:noFill/>
        </p:spPr>
        <p:txBody>
          <a:bodyPr wrap="square" lIns="0" tIns="0" rIns="0" bIns="0" anchor="t">
            <a:spAutoFit/>
          </a:bodyPr>
          <a:lstStyle/>
          <a:p>
            <a:pPr algn="l">
              <a:spcAft>
                <a:spcPts val="0"/>
              </a:spcAft>
            </a:pPr>
            <a:r>
              <a:rPr sz="1400" b="0" i="0">
                <a:solidFill>
                  <a:srgbClr val="1E2228"/>
                </a:solidFill>
                <a:latin typeface="Calibri"/>
              </a:rPr>
              <a:t>6.5% sample; data ends March 2023; coverage varies by state</a:t>
            </a:r>
          </a:p>
        </p:txBody>
      </p:sp>
      <p:sp>
        <p:nvSpPr>
          <p:cNvPr id="12" name="Oval 11"/>
          <p:cNvSpPr/>
          <p:nvPr/>
        </p:nvSpPr>
        <p:spPr>
          <a:xfrm>
            <a:off x="548640" y="3383280"/>
            <a:ext cx="411480" cy="411480"/>
          </a:xfrm>
          <a:prstGeom prst="ellipse">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exclamation_C62828.png"/>
          <p:cNvPicPr>
            <a:picLocks noChangeAspect="1"/>
          </p:cNvPicPr>
          <p:nvPr/>
        </p:nvPicPr>
        <p:blipFill>
          <a:blip r:embed="rId3"/>
          <a:stretch>
            <a:fillRect/>
          </a:stretch>
        </p:blipFill>
        <p:spPr>
          <a:xfrm>
            <a:off x="647395" y="3482035"/>
            <a:ext cx="213969" cy="213969"/>
          </a:xfrm>
          <a:prstGeom prst="rect">
            <a:avLst/>
          </a:prstGeom>
        </p:spPr>
      </p:pic>
      <p:sp>
        <p:nvSpPr>
          <p:cNvPr id="14" name="TextBox 13"/>
          <p:cNvSpPr txBox="1"/>
          <p:nvPr/>
        </p:nvSpPr>
        <p:spPr>
          <a:xfrm>
            <a:off x="1143000" y="3401568"/>
            <a:ext cx="4572000" cy="685800"/>
          </a:xfrm>
          <a:prstGeom prst="rect">
            <a:avLst/>
          </a:prstGeom>
          <a:noFill/>
        </p:spPr>
        <p:txBody>
          <a:bodyPr wrap="square" lIns="0" tIns="0" rIns="0" bIns="0" anchor="t">
            <a:spAutoFit/>
          </a:bodyPr>
          <a:lstStyle/>
          <a:p>
            <a:pPr algn="l">
              <a:spcAft>
                <a:spcPts val="0"/>
              </a:spcAft>
            </a:pPr>
            <a:r>
              <a:rPr sz="1400" b="0" i="0">
                <a:solidFill>
                  <a:srgbClr val="1E2228"/>
                </a:solidFill>
                <a:latin typeface="Calibri"/>
              </a:rPr>
              <a:t>Weather comes from the nearest airport, not the exact place</a:t>
            </a:r>
          </a:p>
        </p:txBody>
      </p:sp>
      <p:sp>
        <p:nvSpPr>
          <p:cNvPr id="15" name="Oval 14"/>
          <p:cNvSpPr/>
          <p:nvPr/>
        </p:nvSpPr>
        <p:spPr>
          <a:xfrm>
            <a:off x="548640" y="4160520"/>
            <a:ext cx="411480" cy="411480"/>
          </a:xfrm>
          <a:prstGeom prst="ellipse">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xclamation_C62828.png"/>
          <p:cNvPicPr>
            <a:picLocks noChangeAspect="1"/>
          </p:cNvPicPr>
          <p:nvPr/>
        </p:nvPicPr>
        <p:blipFill>
          <a:blip r:embed="rId3"/>
          <a:stretch>
            <a:fillRect/>
          </a:stretch>
        </p:blipFill>
        <p:spPr>
          <a:xfrm>
            <a:off x="647395" y="4259275"/>
            <a:ext cx="213969" cy="213969"/>
          </a:xfrm>
          <a:prstGeom prst="rect">
            <a:avLst/>
          </a:prstGeom>
        </p:spPr>
      </p:pic>
      <p:sp>
        <p:nvSpPr>
          <p:cNvPr id="17" name="TextBox 16"/>
          <p:cNvSpPr txBox="1"/>
          <p:nvPr/>
        </p:nvSpPr>
        <p:spPr>
          <a:xfrm>
            <a:off x="1143000" y="4178807"/>
            <a:ext cx="4572000" cy="685800"/>
          </a:xfrm>
          <a:prstGeom prst="rect">
            <a:avLst/>
          </a:prstGeom>
          <a:noFill/>
        </p:spPr>
        <p:txBody>
          <a:bodyPr wrap="square" lIns="0" tIns="0" rIns="0" bIns="0" anchor="t">
            <a:spAutoFit/>
          </a:bodyPr>
          <a:lstStyle/>
          <a:p>
            <a:pPr algn="l">
              <a:spcAft>
                <a:spcPts val="0"/>
              </a:spcAft>
            </a:pPr>
            <a:r>
              <a:rPr sz="1400" b="0" i="0">
                <a:solidFill>
                  <a:srgbClr val="1E2228"/>
                </a:solidFill>
                <a:latin typeface="Calibri"/>
              </a:rPr>
              <a:t>Some rules of thumb: outlier limits, highway name rule, thresholds</a:t>
            </a:r>
          </a:p>
        </p:txBody>
      </p:sp>
      <p:sp>
        <p:nvSpPr>
          <p:cNvPr id="18" name="Oval 17"/>
          <p:cNvSpPr/>
          <p:nvPr/>
        </p:nvSpPr>
        <p:spPr>
          <a:xfrm>
            <a:off x="548640" y="4937760"/>
            <a:ext cx="411480" cy="411480"/>
          </a:xfrm>
          <a:prstGeom prst="ellipse">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exclamation_C62828.png"/>
          <p:cNvPicPr>
            <a:picLocks noChangeAspect="1"/>
          </p:cNvPicPr>
          <p:nvPr/>
        </p:nvPicPr>
        <p:blipFill>
          <a:blip r:embed="rId3"/>
          <a:stretch>
            <a:fillRect/>
          </a:stretch>
        </p:blipFill>
        <p:spPr>
          <a:xfrm>
            <a:off x="647395" y="5036515"/>
            <a:ext cx="213969" cy="213969"/>
          </a:xfrm>
          <a:prstGeom prst="rect">
            <a:avLst/>
          </a:prstGeom>
        </p:spPr>
      </p:pic>
      <p:sp>
        <p:nvSpPr>
          <p:cNvPr id="20" name="TextBox 19"/>
          <p:cNvSpPr txBox="1"/>
          <p:nvPr/>
        </p:nvSpPr>
        <p:spPr>
          <a:xfrm>
            <a:off x="1143000" y="4956048"/>
            <a:ext cx="4572000" cy="685800"/>
          </a:xfrm>
          <a:prstGeom prst="rect">
            <a:avLst/>
          </a:prstGeom>
          <a:noFill/>
        </p:spPr>
        <p:txBody>
          <a:bodyPr wrap="square" lIns="0" tIns="0" rIns="0" bIns="0" anchor="t">
            <a:spAutoFit/>
          </a:bodyPr>
          <a:lstStyle/>
          <a:p>
            <a:pPr algn="l">
              <a:spcAft>
                <a:spcPts val="0"/>
              </a:spcAft>
            </a:pPr>
            <a:r>
              <a:rPr sz="1400" b="0" i="0">
                <a:solidFill>
                  <a:srgbClr val="1E2228"/>
                </a:solidFill>
                <a:latin typeface="Calibri"/>
              </a:rPr>
              <a:t>Tests show association, not cause</a:t>
            </a:r>
          </a:p>
        </p:txBody>
      </p:sp>
      <p:sp>
        <p:nvSpPr>
          <p:cNvPr id="21" name="Rounded Rectangle 20"/>
          <p:cNvSpPr/>
          <p:nvPr/>
        </p:nvSpPr>
        <p:spPr>
          <a:xfrm>
            <a:off x="6217920" y="1325880"/>
            <a:ext cx="5422392" cy="4526280"/>
          </a:xfrm>
          <a:prstGeom prst="roundRect">
            <a:avLst>
              <a:gd name="adj" fmla="val 6000"/>
            </a:avLst>
          </a:prstGeom>
          <a:solidFill>
            <a:srgbClr val="26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1463040"/>
            <a:ext cx="5029200" cy="365760"/>
          </a:xfrm>
          <a:prstGeom prst="rect">
            <a:avLst/>
          </a:prstGeom>
          <a:noFill/>
        </p:spPr>
        <p:txBody>
          <a:bodyPr wrap="square" lIns="0" tIns="0" rIns="0" bIns="0" anchor="t">
            <a:spAutoFit/>
          </a:bodyPr>
          <a:lstStyle/>
          <a:p>
            <a:pPr algn="l">
              <a:spcAft>
                <a:spcPts val="0"/>
              </a:spcAft>
            </a:pPr>
            <a:r>
              <a:rPr sz="1600" b="1" i="0">
                <a:solidFill>
                  <a:srgbClr val="F2A900"/>
                </a:solidFill>
                <a:latin typeface="Calibri"/>
              </a:rPr>
              <a:t>Next: modelling (not part of the midterm)</a:t>
            </a:r>
          </a:p>
        </p:txBody>
      </p:sp>
      <p:sp>
        <p:nvSpPr>
          <p:cNvPr id="23" name="TextBox 22"/>
          <p:cNvSpPr txBox="1"/>
          <p:nvPr/>
        </p:nvSpPr>
        <p:spPr>
          <a:xfrm>
            <a:off x="6446520" y="1965960"/>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1</a:t>
            </a:r>
          </a:p>
        </p:txBody>
      </p:sp>
      <p:sp>
        <p:nvSpPr>
          <p:cNvPr id="24" name="TextBox 23"/>
          <p:cNvSpPr txBox="1"/>
          <p:nvPr/>
        </p:nvSpPr>
        <p:spPr>
          <a:xfrm>
            <a:off x="6812280" y="1965960"/>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Splits: </a:t>
            </a:r>
            <a:r>
              <a:rPr sz="1300" b="0" i="0">
                <a:solidFill>
                  <a:srgbClr val="FFFFFF"/>
                </a:solidFill>
                <a:latin typeface="Calibri"/>
              </a:rPr>
              <a:t>train / validation / test 70/15/15 + time check (2016–21 → 2022–23)</a:t>
            </a:r>
          </a:p>
        </p:txBody>
      </p:sp>
      <p:sp>
        <p:nvSpPr>
          <p:cNvPr id="25" name="TextBox 24"/>
          <p:cNvSpPr txBox="1"/>
          <p:nvPr/>
        </p:nvSpPr>
        <p:spPr>
          <a:xfrm>
            <a:off x="6446520" y="2606039"/>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2</a:t>
            </a:r>
          </a:p>
        </p:txBody>
      </p:sp>
      <p:sp>
        <p:nvSpPr>
          <p:cNvPr id="26" name="TextBox 25"/>
          <p:cNvSpPr txBox="1"/>
          <p:nvPr/>
        </p:nvSpPr>
        <p:spPr>
          <a:xfrm>
            <a:off x="6812280" y="2606039"/>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Imbalance: </a:t>
            </a:r>
            <a:r>
              <a:rPr sz="1300" b="0" i="0">
                <a:solidFill>
                  <a:srgbClr val="FFFFFF"/>
                </a:solidFill>
                <a:latin typeface="Calibri"/>
              </a:rPr>
              <a:t>class weights vs. undersampling Severity 2</a:t>
            </a:r>
          </a:p>
        </p:txBody>
      </p:sp>
      <p:sp>
        <p:nvSpPr>
          <p:cNvPr id="27" name="TextBox 26"/>
          <p:cNvSpPr txBox="1"/>
          <p:nvPr/>
        </p:nvSpPr>
        <p:spPr>
          <a:xfrm>
            <a:off x="6446520" y="3246120"/>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3</a:t>
            </a:r>
          </a:p>
        </p:txBody>
      </p:sp>
      <p:sp>
        <p:nvSpPr>
          <p:cNvPr id="28" name="TextBox 27"/>
          <p:cNvSpPr txBox="1"/>
          <p:nvPr/>
        </p:nvSpPr>
        <p:spPr>
          <a:xfrm>
            <a:off x="6812280" y="3246120"/>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Models: </a:t>
            </a:r>
            <a:r>
              <a:rPr sz="1300" b="0" i="0">
                <a:solidFill>
                  <a:srgbClr val="FFFFFF"/>
                </a:solidFill>
                <a:latin typeface="Calibri"/>
              </a:rPr>
              <a:t>baseline → Logistic Regression → Decision Tree → Random Forest → LightGBM / XGBoost</a:t>
            </a:r>
          </a:p>
        </p:txBody>
      </p:sp>
      <p:sp>
        <p:nvSpPr>
          <p:cNvPr id="29" name="TextBox 28"/>
          <p:cNvSpPr txBox="1"/>
          <p:nvPr/>
        </p:nvSpPr>
        <p:spPr>
          <a:xfrm>
            <a:off x="6446520" y="3886200"/>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4</a:t>
            </a:r>
          </a:p>
        </p:txBody>
      </p:sp>
      <p:sp>
        <p:nvSpPr>
          <p:cNvPr id="30" name="TextBox 29"/>
          <p:cNvSpPr txBox="1"/>
          <p:nvPr/>
        </p:nvSpPr>
        <p:spPr>
          <a:xfrm>
            <a:off x="6812280" y="3886200"/>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Evaluation: </a:t>
            </a:r>
            <a:r>
              <a:rPr sz="1300" b="0" i="0">
                <a:solidFill>
                  <a:srgbClr val="FFFFFF"/>
                </a:solidFill>
                <a:latin typeface="Calibri"/>
              </a:rPr>
              <a:t>macro F1, Severity 4 recall, confusion matrix</a:t>
            </a:r>
          </a:p>
        </p:txBody>
      </p:sp>
      <p:sp>
        <p:nvSpPr>
          <p:cNvPr id="31" name="TextBox 30"/>
          <p:cNvSpPr txBox="1"/>
          <p:nvPr/>
        </p:nvSpPr>
        <p:spPr>
          <a:xfrm>
            <a:off x="6446520" y="4526279"/>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5</a:t>
            </a:r>
          </a:p>
        </p:txBody>
      </p:sp>
      <p:sp>
        <p:nvSpPr>
          <p:cNvPr id="32" name="TextBox 31"/>
          <p:cNvSpPr txBox="1"/>
          <p:nvPr/>
        </p:nvSpPr>
        <p:spPr>
          <a:xfrm>
            <a:off x="6812280" y="4526279"/>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Provider test: </a:t>
            </a:r>
            <a:r>
              <a:rPr sz="1300" b="0" i="0">
                <a:solidFill>
                  <a:srgbClr val="FFFFFF"/>
                </a:solidFill>
                <a:latin typeface="Calibri"/>
              </a:rPr>
              <a:t>best model with and without Source</a:t>
            </a:r>
          </a:p>
        </p:txBody>
      </p:sp>
      <p:sp>
        <p:nvSpPr>
          <p:cNvPr id="33" name="TextBox 32"/>
          <p:cNvSpPr txBox="1"/>
          <p:nvPr/>
        </p:nvSpPr>
        <p:spPr>
          <a:xfrm>
            <a:off x="6446520" y="5166360"/>
            <a:ext cx="320040" cy="320040"/>
          </a:xfrm>
          <a:prstGeom prst="rect">
            <a:avLst/>
          </a:prstGeom>
          <a:noFill/>
        </p:spPr>
        <p:txBody>
          <a:bodyPr wrap="square" lIns="0" tIns="0" rIns="0" bIns="0" anchor="t">
            <a:spAutoFit/>
          </a:bodyPr>
          <a:lstStyle/>
          <a:p>
            <a:pPr algn="l">
              <a:spcAft>
                <a:spcPts val="0"/>
              </a:spcAft>
            </a:pPr>
            <a:r>
              <a:rPr sz="1600" b="1" i="0">
                <a:solidFill>
                  <a:srgbClr val="F2A900"/>
                </a:solidFill>
                <a:latin typeface="Cambria"/>
              </a:rPr>
              <a:t>6</a:t>
            </a:r>
          </a:p>
        </p:txBody>
      </p:sp>
      <p:sp>
        <p:nvSpPr>
          <p:cNvPr id="34" name="TextBox 33"/>
          <p:cNvSpPr txBox="1"/>
          <p:nvPr/>
        </p:nvSpPr>
        <p:spPr>
          <a:xfrm>
            <a:off x="6812280" y="5166360"/>
            <a:ext cx="4663440" cy="594360"/>
          </a:xfrm>
          <a:prstGeom prst="rect">
            <a:avLst/>
          </a:prstGeom>
          <a:noFill/>
        </p:spPr>
        <p:txBody>
          <a:bodyPr wrap="square" lIns="0" tIns="0" rIns="0" bIns="0" anchor="t">
            <a:spAutoFit/>
          </a:bodyPr>
          <a:lstStyle/>
          <a:p>
            <a:pPr algn="l">
              <a:spcAft>
                <a:spcPts val="0"/>
              </a:spcAft>
            </a:pPr>
            <a:r>
              <a:rPr sz="1300" b="1" i="0">
                <a:solidFill>
                  <a:srgbClr val="FFFFFF"/>
                </a:solidFill>
                <a:latin typeface="Calibri"/>
              </a:rPr>
              <a:t>Explain: </a:t>
            </a:r>
            <a:r>
              <a:rPr sz="1300" b="0" i="0">
                <a:solidFill>
                  <a:srgbClr val="FFFFFF"/>
                </a:solidFill>
                <a:latin typeface="Calibri"/>
              </a:rPr>
              <a:t>feature importance and SHAP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6303B"/>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737360"/>
            <a:ext cx="7680960" cy="1920240"/>
          </a:xfrm>
        </p:spPr>
        <p:txBody>
          <a:bodyPr wrap="square" lIns="0" anchor="b"/>
          <a:lstStyle/>
          <a:p>
            <a:pPr algn="l"/>
            <a:r>
              <a:rPr sz="4000" b="1" i="0">
                <a:solidFill>
                  <a:srgbClr val="FFFFFF"/>
                </a:solidFill>
                <a:latin typeface="Cambria"/>
              </a:rPr>
              <a:t>Thank you. Questions?</a:t>
            </a:r>
          </a:p>
        </p:txBody>
      </p:sp>
      <p:sp>
        <p:nvSpPr>
          <p:cNvPr id="4" name="Oval 3"/>
          <p:cNvSpPr/>
          <p:nvPr/>
        </p:nvSpPr>
        <p:spPr>
          <a:xfrm>
            <a:off x="8778240" y="1828800"/>
            <a:ext cx="2743200" cy="274320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question_26303B.png"/>
          <p:cNvPicPr>
            <a:picLocks noChangeAspect="1"/>
          </p:cNvPicPr>
          <p:nvPr/>
        </p:nvPicPr>
        <p:blipFill>
          <a:blip r:embed="rId3"/>
          <a:stretch>
            <a:fillRect/>
          </a:stretch>
        </p:blipFill>
        <p:spPr>
          <a:xfrm>
            <a:off x="9418320" y="2468880"/>
            <a:ext cx="1463040" cy="1463040"/>
          </a:xfrm>
          <a:prstGeom prst="rect">
            <a:avLst/>
          </a:prstGeom>
        </p:spPr>
      </p:pic>
      <p:sp>
        <p:nvSpPr>
          <p:cNvPr id="6" name="TextBox 5"/>
          <p:cNvSpPr txBox="1"/>
          <p:nvPr/>
        </p:nvSpPr>
        <p:spPr>
          <a:xfrm>
            <a:off x="548640" y="6400800"/>
            <a:ext cx="5486400" cy="274320"/>
          </a:xfrm>
          <a:prstGeom prst="rect">
            <a:avLst/>
          </a:prstGeom>
          <a:noFill/>
        </p:spPr>
        <p:txBody>
          <a:bodyPr wrap="square" lIns="0" tIns="0" rIns="0" bIns="0" anchor="t">
            <a:spAutoFit/>
          </a:bodyPr>
          <a:lstStyle/>
          <a:p>
            <a:pPr algn="l">
              <a:spcAft>
                <a:spcPts val="0"/>
              </a:spcAft>
            </a:pPr>
            <a:r>
              <a:rPr sz="1000" b="0" i="0">
                <a:solidFill>
                  <a:srgbClr val="B8BEC6"/>
                </a:solidFill>
                <a:latin typeface="Calibri"/>
              </a:rPr>
              <a:t>US Accidents Severity · Data Science Midterm</a:t>
            </a:r>
          </a:p>
        </p:txBody>
      </p:sp>
      <p:sp>
        <p:nvSpPr>
          <p:cNvPr id="7" name="TextBox 6"/>
          <p:cNvSpPr txBox="1"/>
          <p:nvPr/>
        </p:nvSpPr>
        <p:spPr>
          <a:xfrm>
            <a:off x="11094415" y="6400800"/>
            <a:ext cx="548640" cy="274320"/>
          </a:xfrm>
          <a:prstGeom prst="rect">
            <a:avLst/>
          </a:prstGeom>
          <a:noFill/>
        </p:spPr>
        <p:txBody>
          <a:bodyPr wrap="square" lIns="0" tIns="0" rIns="0" bIns="0" anchor="t">
            <a:spAutoFit/>
          </a:bodyPr>
          <a:lstStyle/>
          <a:p>
            <a:pPr algn="r">
              <a:spcAft>
                <a:spcPts val="0"/>
              </a:spcAft>
            </a:pPr>
            <a:r>
              <a:rPr sz="1000" b="0" i="0">
                <a:solidFill>
                  <a:srgbClr val="B8BEC6"/>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3019</Words>
  <Application>Microsoft Office PowerPoint</Application>
  <PresentationFormat>Widescreen</PresentationFormat>
  <Paragraphs>221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Predicting the Traffic Impact of US Road Accidents</vt:lpstr>
      <vt:lpstr>Which accidents will block traffic for hours?</vt:lpstr>
      <vt:lpstr>500,000 accidents, and 4 out of 5 are Severity 2</vt:lpstr>
      <vt:lpstr>We removed 11 columns that would give away the answer</vt:lpstr>
      <vt:lpstr>Cleaning kept 99.1% of the rows</vt:lpstr>
      <vt:lpstr>Accidents follow commuting, big cities and highways</vt:lpstr>
      <vt:lpstr>RQ1–RQ2: night and bad weather matter, but only a little</vt:lpstr>
      <vt:lpstr>RQ3–RQ4: road type and data provider matter most</vt:lpstr>
      <vt:lpstr>Hypothesis tests: all significant, few are strong</vt:lpstr>
      <vt:lpstr>From 41 candidates to 36 leakage-safe inputs</vt:lpstr>
      <vt:lpstr>Answers to our research questions</vt:lpstr>
      <vt:lpstr>Limitations and next steps</vt:lpstr>
      <vt:lpstr>Thank you.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Accidents Severity: Midterm Presentation</dc:title>
  <dc:subject/>
  <dc:creator>Omar Tentouch, Tamjid Trabelsi, Youssef Ouenniche, Rayen Chanchah, Mohamed Yamoun</dc:creator>
  <cp:keywords/>
  <dc:description>generated using python-pptx</dc:description>
  <cp:lastModifiedBy>Omar Tentouch</cp:lastModifiedBy>
  <cp:revision>2</cp:revision>
  <dcterms:created xsi:type="dcterms:W3CDTF">2013-01-27T09:14:16Z</dcterms:created>
  <dcterms:modified xsi:type="dcterms:W3CDTF">2026-10-22T15:01:42Z</dcterms:modified>
  <cp:category/>
</cp:coreProperties>
</file>